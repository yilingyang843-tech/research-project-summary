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19"/>
  </p:handoutMasterIdLst>
  <p:sldIdLst>
    <p:sldId id="268" r:id="rId3"/>
    <p:sldId id="269" r:id="rId4"/>
    <p:sldId id="263" r:id="rId5"/>
    <p:sldId id="258" r:id="rId7"/>
    <p:sldId id="264" r:id="rId8"/>
    <p:sldId id="259" r:id="rId9"/>
    <p:sldId id="270" r:id="rId10"/>
    <p:sldId id="271" r:id="rId11"/>
    <p:sldId id="265" r:id="rId12"/>
    <p:sldId id="278" r:id="rId13"/>
    <p:sldId id="276" r:id="rId14"/>
    <p:sldId id="277" r:id="rId15"/>
    <p:sldId id="266" r:id="rId16"/>
    <p:sldId id="262" r:id="rId17"/>
    <p:sldId id="281" r:id="rId18"/>
  </p:sldIdLst>
  <p:sldSz cx="12192000" cy="6858000"/>
  <p:notesSz cx="6858000" cy="9144000"/>
  <p:embeddedFontLst>
    <p:embeddedFont>
      <p:font typeface="Calibri" panose="020F0502020204030204"/>
      <p:regular r:id="rId24"/>
    </p:embeddedFont>
    <p:embeddedFont>
      <p:font typeface="Imprint MT Shadow" panose="04020605060303030202" charset="0"/>
      <p:regular r:id="rId2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42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8709427477" initials="8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2F414F"/>
    <a:srgbClr val="5B9BD5"/>
    <a:srgbClr val="1F4E79"/>
    <a:srgbClr val="E0B186"/>
    <a:srgbClr val="34495E"/>
    <a:srgbClr val="2E75B6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4"/>
      </p:cViewPr>
      <p:guideLst>
        <p:guide orient="horz" pos="2096"/>
        <p:guide pos="42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汉仪铁线黑-65简" panose="00020600040101010101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汉仪铁线黑-6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汉仪铁线黑-65简" panose="00020600040101010101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汉仪铁线黑-65简" panose="0002060004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汉仪铁线黑-65简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汉仪铁线黑-65简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汉仪铁线黑-65简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汉仪铁线黑-65简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汉仪铁线黑-6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440160"/>
            <a:ext cx="12195175" cy="280831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1584176"/>
            <a:ext cx="12195175" cy="321297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651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7"/>
          <p:cNvSpPr>
            <a:spLocks noChangeArrowheads="1"/>
          </p:cNvSpPr>
          <p:nvPr/>
        </p:nvSpPr>
        <p:spPr bwMode="auto">
          <a:xfrm>
            <a:off x="1532255" y="2548255"/>
            <a:ext cx="9611995" cy="1477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b="1" dirty="0">
                <a:solidFill>
                  <a:schemeClr val="bg1"/>
                </a:solidFill>
                <a:latin typeface="Arial Bold" panose="020B0604020202090204" charset="0"/>
                <a:ea typeface="汉仪铁线黑-65简" panose="00020600040101010101" charset="-122"/>
                <a:cs typeface="Arial Bold" panose="020B0604020202090204" charset="0"/>
                <a:sym typeface="汉仪铁线黑-65简" panose="00020600040101010101" charset="-122"/>
              </a:rPr>
              <a:t>Mental Health Outcomes and Early-Life Risk Factors</a:t>
            </a:r>
            <a:endParaRPr lang="en-US" altLang="zh-CN" sz="4800" b="1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汉仪铁线黑-65简" panose="00020600040101010101" charset="-122"/>
            </a:endParaRPr>
          </a:p>
        </p:txBody>
      </p:sp>
      <p:sp>
        <p:nvSpPr>
          <p:cNvPr id="46" name="矩形 3"/>
          <p:cNvSpPr>
            <a:spLocks noChangeArrowheads="1"/>
          </p:cNvSpPr>
          <p:nvPr/>
        </p:nvSpPr>
        <p:spPr bwMode="auto">
          <a:xfrm>
            <a:off x="5009794" y="4221088"/>
            <a:ext cx="269367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  <a:latin typeface="汉仪铁线黑-65简" panose="00020600040101010101" charset="-122"/>
                <a:ea typeface="汉仪铁线黑-65简" panose="00020600040101010101" charset="-122"/>
                <a:cs typeface="Arial" panose="020B0604020202090204" pitchFamily="34" charset="0"/>
              </a:rPr>
              <a:t>Yiling Yang 1306339</a:t>
            </a:r>
            <a:endParaRPr lang="en-US" altLang="zh-CN" sz="2000" dirty="0">
              <a:solidFill>
                <a:schemeClr val="bg1"/>
              </a:solidFill>
              <a:latin typeface="汉仪铁线黑-65简" panose="00020600040101010101" charset="-122"/>
              <a:ea typeface="汉仪铁线黑-65简" panose="00020600040101010101" charset="-122"/>
              <a:cs typeface="Arial" panose="020B0604020202090204" pitchFamily="34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4081363" y="5020313"/>
            <a:ext cx="663125" cy="663125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4873451" y="5020313"/>
            <a:ext cx="663125" cy="663125"/>
          </a:xfrm>
          <a:prstGeom prst="ellips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5726382" y="5020313"/>
            <a:ext cx="663125" cy="663125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6544688" y="5020313"/>
            <a:ext cx="663125" cy="663125"/>
          </a:xfrm>
          <a:prstGeom prst="ellips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7393731" y="5020313"/>
            <a:ext cx="663125" cy="663125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5138409" y="518200"/>
            <a:ext cx="1895282" cy="18952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Freeform 27"/>
          <p:cNvSpPr>
            <a:spLocks noEditPoints="1"/>
          </p:cNvSpPr>
          <p:nvPr/>
        </p:nvSpPr>
        <p:spPr bwMode="auto">
          <a:xfrm>
            <a:off x="4239239" y="5140396"/>
            <a:ext cx="404650" cy="434096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69" name="Freeform 13"/>
          <p:cNvSpPr>
            <a:spLocks noEditPoints="1"/>
          </p:cNvSpPr>
          <p:nvPr/>
        </p:nvSpPr>
        <p:spPr bwMode="auto">
          <a:xfrm>
            <a:off x="5009502" y="5138126"/>
            <a:ext cx="460814" cy="432415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0" name="Freeform 12"/>
          <p:cNvSpPr>
            <a:spLocks noEditPoints="1"/>
          </p:cNvSpPr>
          <p:nvPr/>
        </p:nvSpPr>
        <p:spPr bwMode="auto">
          <a:xfrm>
            <a:off x="5831016" y="5107576"/>
            <a:ext cx="476959" cy="460084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1" name="Freeform 11"/>
          <p:cNvSpPr>
            <a:spLocks noEditPoints="1"/>
          </p:cNvSpPr>
          <p:nvPr/>
        </p:nvSpPr>
        <p:spPr bwMode="auto">
          <a:xfrm>
            <a:off x="6654845" y="5168688"/>
            <a:ext cx="461639" cy="382230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2" name="Freeform 28"/>
          <p:cNvSpPr>
            <a:spLocks noEditPoints="1"/>
          </p:cNvSpPr>
          <p:nvPr/>
        </p:nvSpPr>
        <p:spPr bwMode="auto">
          <a:xfrm>
            <a:off x="7486061" y="5136337"/>
            <a:ext cx="491281" cy="415309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290185" y="654050"/>
            <a:ext cx="1595120" cy="1595120"/>
          </a:xfrm>
          <a:prstGeom prst="ellipse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博士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6540" y="850900"/>
            <a:ext cx="1501775" cy="1501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413499" y="0"/>
            <a:ext cx="609917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33"/>
          <p:cNvSpPr txBox="1"/>
          <p:nvPr/>
        </p:nvSpPr>
        <p:spPr>
          <a:xfrm>
            <a:off x="7741066" y="1313520"/>
            <a:ext cx="4213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400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Research Topic &amp; Objective</a:t>
            </a:r>
            <a:endParaRPr lang="en-US" altLang="zh-CN" sz="2400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+mn-lt"/>
            </a:endParaRPr>
          </a:p>
        </p:txBody>
      </p:sp>
      <p:sp>
        <p:nvSpPr>
          <p:cNvPr id="10" name="文本框 34"/>
          <p:cNvSpPr txBox="1"/>
          <p:nvPr/>
        </p:nvSpPr>
        <p:spPr>
          <a:xfrm>
            <a:off x="7827426" y="2358017"/>
            <a:ext cx="196151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Data Source</a:t>
            </a:r>
            <a:endParaRPr lang="en-US" altLang="zh-CN" sz="2400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+mn-lt"/>
            </a:endParaRPr>
          </a:p>
        </p:txBody>
      </p:sp>
      <p:sp>
        <p:nvSpPr>
          <p:cNvPr id="18" name="文本框 19"/>
          <p:cNvSpPr txBox="1"/>
          <p:nvPr/>
        </p:nvSpPr>
        <p:spPr>
          <a:xfrm>
            <a:off x="7827743" y="4306002"/>
            <a:ext cx="128397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Results</a:t>
            </a:r>
            <a:endParaRPr lang="en-US" altLang="zh-CN" sz="2400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7526726" y="4530171"/>
            <a:ext cx="0" cy="105890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7532689" y="3530071"/>
            <a:ext cx="0" cy="97673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7532689" y="1513395"/>
            <a:ext cx="0" cy="97673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7532689" y="967408"/>
            <a:ext cx="0" cy="48837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7532689" y="2555125"/>
            <a:ext cx="0" cy="97673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7526726" y="5483072"/>
            <a:ext cx="0" cy="51282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827743" y="5273181"/>
            <a:ext cx="184150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Conclusion</a:t>
            </a:r>
            <a:endParaRPr lang="en-US" altLang="zh-CN" sz="2400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 rot="5400000">
            <a:off x="1250920" y="1994115"/>
            <a:ext cx="3083386" cy="2732788"/>
            <a:chOff x="3385822" y="2342962"/>
            <a:chExt cx="2463822" cy="2183669"/>
          </a:xfrm>
        </p:grpSpPr>
        <p:sp>
          <p:nvSpPr>
            <p:cNvPr id="22" name="Freeform 5"/>
            <p:cNvSpPr/>
            <p:nvPr/>
          </p:nvSpPr>
          <p:spPr bwMode="auto">
            <a:xfrm rot="10800000">
              <a:off x="3385822" y="2342962"/>
              <a:ext cx="2463822" cy="2183669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5400">
              <a:noFill/>
            </a:ln>
            <a:effectLst>
              <a:outerShdw blurRad="355600" dist="88900" dir="2700000" algn="tl" rotWithShape="0">
                <a:prstClr val="black">
                  <a:alpha val="28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3" name="Freeform 5"/>
            <p:cNvSpPr/>
            <p:nvPr/>
          </p:nvSpPr>
          <p:spPr bwMode="auto">
            <a:xfrm rot="10800000">
              <a:off x="3589408" y="2523401"/>
              <a:ext cx="2056648" cy="18227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tx2"/>
            </a:solidFill>
            <a:ln w="25400">
              <a:noFill/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 dirty="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 rot="16200000">
            <a:off x="2578100" y="1960245"/>
            <a:ext cx="871220" cy="273367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</a:rPr>
              <a:t>contents</a:t>
            </a:r>
            <a:endParaRPr lang="en-US" altLang="zh-CN" sz="4400" b="1" dirty="0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4" name="文本框 34"/>
          <p:cNvSpPr txBox="1"/>
          <p:nvPr/>
        </p:nvSpPr>
        <p:spPr>
          <a:xfrm>
            <a:off x="7827744" y="3354332"/>
            <a:ext cx="29597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Statistical Methods</a:t>
            </a:r>
            <a:endParaRPr lang="en-US" altLang="zh-CN" sz="2400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1" y="2493690"/>
            <a:ext cx="12190414" cy="2304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 rot="5400000">
            <a:off x="885160" y="2158707"/>
            <a:ext cx="3083386" cy="2732788"/>
            <a:chOff x="3385822" y="2342962"/>
            <a:chExt cx="2463822" cy="2183669"/>
          </a:xfrm>
        </p:grpSpPr>
        <p:sp>
          <p:nvSpPr>
            <p:cNvPr id="17" name="Freeform 5"/>
            <p:cNvSpPr/>
            <p:nvPr/>
          </p:nvSpPr>
          <p:spPr bwMode="auto">
            <a:xfrm rot="10800000">
              <a:off x="3385822" y="2342962"/>
              <a:ext cx="2463822" cy="2183669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355600" dist="88900" dir="2700000" algn="tl" rotWithShape="0">
                <a:prstClr val="black">
                  <a:alpha val="28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8" name="Freeform 5"/>
            <p:cNvSpPr/>
            <p:nvPr/>
          </p:nvSpPr>
          <p:spPr bwMode="auto">
            <a:xfrm rot="10800000">
              <a:off x="3589408" y="2523401"/>
              <a:ext cx="2056648" cy="18227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tx2"/>
            </a:solidFill>
            <a:ln w="25400">
              <a:noFill/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 dirty="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3953510" y="3234055"/>
            <a:ext cx="8449310" cy="1832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400" b="1" dirty="0">
                <a:solidFill>
                  <a:srgbClr val="313D5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Research Topic &amp; Objective</a:t>
            </a:r>
            <a:endParaRPr lang="en-US" altLang="zh-CN" sz="4400" b="1" dirty="0">
              <a:solidFill>
                <a:srgbClr val="313D51"/>
              </a:solidFill>
              <a:latin typeface="Arial Bold" panose="020B0604020202090204" charset="0"/>
              <a:cs typeface="Arial Bold" panose="020B0604020202090204" charset="0"/>
              <a:sym typeface="+mn-lt"/>
            </a:endParaRPr>
          </a:p>
        </p:txBody>
      </p:sp>
      <p:sp>
        <p:nvSpPr>
          <p:cNvPr id="21" name="文本框 32"/>
          <p:cNvSpPr txBox="1"/>
          <p:nvPr/>
        </p:nvSpPr>
        <p:spPr>
          <a:xfrm>
            <a:off x="921387" y="2633265"/>
            <a:ext cx="290895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dirty="0">
                <a:solidFill>
                  <a:schemeClr val="bg1"/>
                </a:solidFill>
                <a:latin typeface="汉仪铁线黑-65简" panose="00020600040101010101" charset="-122"/>
                <a:ea typeface="汉仪铁线黑-65简" panose="00020600040101010101" charset="-122"/>
                <a:cs typeface="Arial" panose="020B0604020202090204" pitchFamily="34" charset="0"/>
                <a:sym typeface="+mn-lt"/>
              </a:rPr>
              <a:t>01</a:t>
            </a:r>
            <a:endParaRPr lang="en-US" altLang="zh-CN" sz="9600" dirty="0">
              <a:solidFill>
                <a:schemeClr val="bg1"/>
              </a:solidFill>
              <a:latin typeface="汉仪铁线黑-65简" panose="00020600040101010101" charset="-122"/>
              <a:ea typeface="汉仪铁线黑-65简" panose="00020600040101010101" charset="-122"/>
              <a:cs typeface="Arial" panose="020B0604020202090204" pitchFamily="34" charset="0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580139" y="0"/>
            <a:ext cx="11904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774" y="0"/>
            <a:ext cx="6149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113560" y="2929632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43" name="矩形 42"/>
          <p:cNvSpPr/>
          <p:nvPr/>
        </p:nvSpPr>
        <p:spPr>
          <a:xfrm>
            <a:off x="0" y="1802383"/>
            <a:ext cx="1770611" cy="57465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5" name="Freeform 13"/>
          <p:cNvSpPr>
            <a:spLocks noEditPoints="1"/>
          </p:cNvSpPr>
          <p:nvPr/>
        </p:nvSpPr>
        <p:spPr bwMode="auto">
          <a:xfrm>
            <a:off x="185704" y="2527443"/>
            <a:ext cx="292026" cy="274029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6" name="Freeform 12"/>
          <p:cNvSpPr>
            <a:spLocks noEditPoints="1"/>
          </p:cNvSpPr>
          <p:nvPr/>
        </p:nvSpPr>
        <p:spPr bwMode="auto">
          <a:xfrm>
            <a:off x="141001" y="3067377"/>
            <a:ext cx="336729" cy="324815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7" name="Freeform 11"/>
          <p:cNvSpPr>
            <a:spLocks noEditPoints="1"/>
          </p:cNvSpPr>
          <p:nvPr/>
        </p:nvSpPr>
        <p:spPr bwMode="auto">
          <a:xfrm>
            <a:off x="163523" y="3696687"/>
            <a:ext cx="296922" cy="245847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71" name="直接连接符 70"/>
          <p:cNvCxnSpPr/>
          <p:nvPr/>
        </p:nvCxnSpPr>
        <p:spPr>
          <a:xfrm flipH="1">
            <a:off x="113560" y="3507724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2" name="直接连接符 71"/>
          <p:cNvCxnSpPr/>
          <p:nvPr/>
        </p:nvCxnSpPr>
        <p:spPr>
          <a:xfrm flipH="1">
            <a:off x="113560" y="4085816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3" name="直接连接符 72"/>
          <p:cNvCxnSpPr/>
          <p:nvPr/>
        </p:nvCxnSpPr>
        <p:spPr>
          <a:xfrm flipH="1">
            <a:off x="113560" y="4663908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74" name="Freeform 28"/>
          <p:cNvSpPr>
            <a:spLocks noEditPoints="1"/>
          </p:cNvSpPr>
          <p:nvPr/>
        </p:nvSpPr>
        <p:spPr bwMode="auto">
          <a:xfrm>
            <a:off x="141008" y="4240315"/>
            <a:ext cx="319438" cy="270040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7" name="Freeform 27"/>
          <p:cNvSpPr>
            <a:spLocks noEditPoints="1"/>
          </p:cNvSpPr>
          <p:nvPr/>
        </p:nvSpPr>
        <p:spPr bwMode="auto">
          <a:xfrm>
            <a:off x="184072" y="1986373"/>
            <a:ext cx="265566" cy="284891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586838" y="3227155"/>
            <a:ext cx="2485289" cy="2485289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2" name="TextBox 15"/>
          <p:cNvSpPr txBox="1"/>
          <p:nvPr/>
        </p:nvSpPr>
        <p:spPr>
          <a:xfrm>
            <a:off x="2825954" y="4256813"/>
            <a:ext cx="2001962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汉仪铁线黑-65简" panose="00020600040101010101" charset="-122"/>
                <a:ea typeface="汉仪铁线黑-65简" panose="00020600040101010101" charset="-122"/>
              </a:rPr>
              <a:t>Objective</a:t>
            </a:r>
            <a:endParaRPr lang="en-US" altLang="zh-CN" sz="3200" b="1" dirty="0">
              <a:solidFill>
                <a:schemeClr val="bg1"/>
              </a:solidFill>
              <a:latin typeface="汉仪铁线黑-65简" panose="00020600040101010101" charset="-122"/>
              <a:ea typeface="汉仪铁线黑-65简" panose="00020600040101010101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586838" y="1204752"/>
            <a:ext cx="2485289" cy="248528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5521387" y="3502043"/>
            <a:ext cx="576622" cy="576785"/>
          </a:xfrm>
          <a:prstGeom prst="ellipse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Imprint MT Shadow" panose="04020605060303030202" charset="0"/>
                <a:ea typeface="汉仪铁线黑-65简" panose="00020600040101010101" charset="-122"/>
              </a:rPr>
              <a:t>1</a:t>
            </a:r>
            <a:endParaRPr lang="en-US" altLang="zh-CN" dirty="0">
              <a:latin typeface="Imprint MT Shadow" panose="04020605060303030202" charset="0"/>
              <a:ea typeface="汉仪铁线黑-65简" panose="00020600040101010101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6097890" y="3766235"/>
            <a:ext cx="100703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5539802" y="4664373"/>
            <a:ext cx="576622" cy="5767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Imprint MT Shadow" panose="04020605060303030202" charset="0"/>
                <a:ea typeface="汉仪铁线黑-65简" panose="00020600040101010101" charset="-122"/>
              </a:rPr>
              <a:t>2</a:t>
            </a:r>
            <a:endParaRPr lang="en-US" altLang="zh-CN" dirty="0">
              <a:latin typeface="Imprint MT Shadow" panose="04020605060303030202" charset="0"/>
              <a:ea typeface="汉仪铁线黑-65简" panose="00020600040101010101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159485" y="4964125"/>
            <a:ext cx="100703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5539168" y="5712748"/>
            <a:ext cx="576622" cy="576785"/>
          </a:xfrm>
          <a:prstGeom prst="ellipse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Imprint MT Shadow" panose="04020605060303030202" charset="0"/>
                <a:ea typeface="汉仪铁线黑-65简" panose="00020600040101010101" charset="-122"/>
              </a:rPr>
              <a:t>3</a:t>
            </a:r>
            <a:endParaRPr lang="en-US" altLang="zh-CN" dirty="0">
              <a:latin typeface="Imprint MT Shadow" panose="04020605060303030202" charset="0"/>
              <a:ea typeface="汉仪铁线黑-65简" panose="00020600040101010101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202031" y="6000435"/>
            <a:ext cx="100703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151" y="1674016"/>
            <a:ext cx="1605568" cy="1605568"/>
          </a:xfrm>
          <a:prstGeom prst="rect">
            <a:avLst/>
          </a:prstGeom>
        </p:spPr>
      </p:pic>
      <p:sp>
        <p:nvSpPr>
          <p:cNvPr id="45" name="标题 11"/>
          <p:cNvSpPr txBox="1"/>
          <p:nvPr/>
        </p:nvSpPr>
        <p:spPr>
          <a:xfrm>
            <a:off x="5074285" y="1210310"/>
            <a:ext cx="7117715" cy="7969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 panose="020B0604020202090204" charset="0"/>
                <a:ea typeface="汉仪铁线黑-65简" panose="00020600040101010101" charset="-122"/>
                <a:cs typeface="Arial Bold" panose="020B0604020202090204" charset="0"/>
              </a:rPr>
              <a:t>Topic</a:t>
            </a:r>
            <a:endParaRPr lang="en-US" altLang="zh-CN" sz="3600" b="1" dirty="0">
              <a:solidFill>
                <a:schemeClr val="tx1">
                  <a:lumMod val="65000"/>
                  <a:lumOff val="35000"/>
                </a:schemeClr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</a:endParaRPr>
          </a:p>
          <a:p>
            <a:pPr algn="l"/>
            <a:endParaRPr lang="en-US" altLang="zh-CN" sz="3600" b="1" dirty="0">
              <a:solidFill>
                <a:schemeClr val="tx1">
                  <a:lumMod val="65000"/>
                  <a:lumOff val="35000"/>
                </a:schemeClr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</a:endParaRPr>
          </a:p>
          <a:p>
            <a:pPr algn="l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Mental health issues are an important global public health problem.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</a:endParaRPr>
          </a:p>
        </p:txBody>
      </p:sp>
      <p:sp>
        <p:nvSpPr>
          <p:cNvPr id="46" name="标题 11"/>
          <p:cNvSpPr txBox="1"/>
          <p:nvPr/>
        </p:nvSpPr>
        <p:spPr>
          <a:xfrm>
            <a:off x="7209155" y="3391535"/>
            <a:ext cx="4648200" cy="7969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To emphasize the public health importance of mental health outcomes.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</a:endParaRPr>
          </a:p>
        </p:txBody>
      </p:sp>
      <p:sp>
        <p:nvSpPr>
          <p:cNvPr id="47" name="标题 11"/>
          <p:cNvSpPr txBox="1"/>
          <p:nvPr/>
        </p:nvSpPr>
        <p:spPr>
          <a:xfrm>
            <a:off x="7227570" y="4553585"/>
            <a:ext cx="4412615" cy="7969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To support data-driven understanding of mental health risks.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</a:endParaRPr>
          </a:p>
        </p:txBody>
      </p:sp>
      <p:sp>
        <p:nvSpPr>
          <p:cNvPr id="48" name="标题 11"/>
          <p:cNvSpPr txBox="1"/>
          <p:nvPr/>
        </p:nvSpPr>
        <p:spPr>
          <a:xfrm>
            <a:off x="7225030" y="5602605"/>
            <a:ext cx="4825365" cy="7969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To analyze depressive symptoms using large-scale, nationally representative health survey data.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1770610" y="505764"/>
            <a:ext cx="10080014" cy="55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10118090" y="191770"/>
            <a:ext cx="1771015" cy="324485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1" name="文本框 9"/>
          <p:cNvSpPr txBox="1"/>
          <p:nvPr/>
        </p:nvSpPr>
        <p:spPr>
          <a:xfrm>
            <a:off x="9963785" y="191770"/>
            <a:ext cx="2079625" cy="2851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noAutofit/>
          </a:bodyPr>
          <a:lstStyle/>
          <a:p>
            <a:pPr marL="0" lvl="1" algn="ctr"/>
            <a:r>
              <a:rPr lang="en-US" altLang="zh-CN" sz="1400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Topic &amp; Objective</a:t>
            </a:r>
            <a:endParaRPr lang="en-US" altLang="zh-CN" sz="1400" b="1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1" y="2493690"/>
            <a:ext cx="12190414" cy="2304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 rot="5400000">
            <a:off x="893108" y="2158707"/>
            <a:ext cx="3083386" cy="2732788"/>
            <a:chOff x="3385822" y="2342962"/>
            <a:chExt cx="2463822" cy="2183669"/>
          </a:xfrm>
        </p:grpSpPr>
        <p:sp>
          <p:nvSpPr>
            <p:cNvPr id="17" name="Freeform 5"/>
            <p:cNvSpPr/>
            <p:nvPr/>
          </p:nvSpPr>
          <p:spPr bwMode="auto">
            <a:xfrm rot="10800000">
              <a:off x="3385822" y="2342962"/>
              <a:ext cx="2463822" cy="2183669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355600" dist="88900" dir="2700000" algn="tl" rotWithShape="0">
                <a:prstClr val="black">
                  <a:alpha val="28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8" name="Freeform 5"/>
            <p:cNvSpPr/>
            <p:nvPr/>
          </p:nvSpPr>
          <p:spPr bwMode="auto">
            <a:xfrm rot="10800000">
              <a:off x="3589408" y="2523401"/>
              <a:ext cx="2056648" cy="18227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tx2"/>
            </a:solidFill>
            <a:ln w="25400">
              <a:noFill/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 dirty="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4452035" y="3141119"/>
            <a:ext cx="6041036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5400" b="1" dirty="0">
                <a:solidFill>
                  <a:srgbClr val="313D5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Data Source</a:t>
            </a:r>
            <a:endParaRPr lang="en-US" altLang="zh-CN" sz="5400" b="1" dirty="0">
              <a:solidFill>
                <a:srgbClr val="313D51"/>
              </a:solidFill>
              <a:latin typeface="Arial Bold" panose="020B0604020202090204" charset="0"/>
              <a:cs typeface="Arial Bold" panose="020B0604020202090204" charset="0"/>
              <a:sym typeface="+mn-lt"/>
            </a:endParaRPr>
          </a:p>
        </p:txBody>
      </p:sp>
      <p:sp>
        <p:nvSpPr>
          <p:cNvPr id="21" name="文本框 32"/>
          <p:cNvSpPr txBox="1"/>
          <p:nvPr/>
        </p:nvSpPr>
        <p:spPr>
          <a:xfrm>
            <a:off x="929335" y="2633265"/>
            <a:ext cx="290895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dirty="0">
                <a:solidFill>
                  <a:schemeClr val="bg1"/>
                </a:solidFill>
                <a:latin typeface="汉仪铁线黑-65简" panose="00020600040101010101" charset="-122"/>
                <a:ea typeface="汉仪铁线黑-65简" panose="00020600040101010101" charset="-122"/>
                <a:cs typeface="+mn-ea"/>
                <a:sym typeface="+mn-lt"/>
              </a:rPr>
              <a:t>02</a:t>
            </a:r>
            <a:endParaRPr lang="en-US" altLang="zh-CN" sz="9600" dirty="0">
              <a:solidFill>
                <a:schemeClr val="bg1"/>
              </a:solidFill>
              <a:latin typeface="汉仪铁线黑-65简" panose="00020600040101010101" charset="-122"/>
              <a:ea typeface="汉仪铁线黑-65简" panose="0002060004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580139" y="0"/>
            <a:ext cx="11904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774" y="0"/>
            <a:ext cx="6149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113560" y="2927807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43" name="矩形 42"/>
          <p:cNvSpPr/>
          <p:nvPr/>
        </p:nvSpPr>
        <p:spPr>
          <a:xfrm>
            <a:off x="1" y="2357184"/>
            <a:ext cx="1770610" cy="581618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5" name="Freeform 13"/>
          <p:cNvSpPr>
            <a:spLocks noEditPoints="1"/>
          </p:cNvSpPr>
          <p:nvPr/>
        </p:nvSpPr>
        <p:spPr bwMode="auto">
          <a:xfrm>
            <a:off x="185704" y="2527443"/>
            <a:ext cx="292026" cy="274029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6" name="Freeform 12"/>
          <p:cNvSpPr>
            <a:spLocks noEditPoints="1"/>
          </p:cNvSpPr>
          <p:nvPr/>
        </p:nvSpPr>
        <p:spPr bwMode="auto">
          <a:xfrm>
            <a:off x="141001" y="3067377"/>
            <a:ext cx="336729" cy="324815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7" name="Freeform 11"/>
          <p:cNvSpPr>
            <a:spLocks noEditPoints="1"/>
          </p:cNvSpPr>
          <p:nvPr/>
        </p:nvSpPr>
        <p:spPr bwMode="auto">
          <a:xfrm>
            <a:off x="163523" y="3696687"/>
            <a:ext cx="296922" cy="245847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71" name="直接连接符 70"/>
          <p:cNvCxnSpPr/>
          <p:nvPr/>
        </p:nvCxnSpPr>
        <p:spPr>
          <a:xfrm flipH="1">
            <a:off x="113560" y="3507724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2" name="直接连接符 71"/>
          <p:cNvCxnSpPr/>
          <p:nvPr/>
        </p:nvCxnSpPr>
        <p:spPr>
          <a:xfrm flipH="1">
            <a:off x="113560" y="4085816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3" name="直接连接符 72"/>
          <p:cNvCxnSpPr/>
          <p:nvPr/>
        </p:nvCxnSpPr>
        <p:spPr>
          <a:xfrm flipH="1">
            <a:off x="113560" y="4663908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74" name="Freeform 28"/>
          <p:cNvSpPr>
            <a:spLocks noEditPoints="1"/>
          </p:cNvSpPr>
          <p:nvPr/>
        </p:nvSpPr>
        <p:spPr bwMode="auto">
          <a:xfrm>
            <a:off x="141008" y="4240315"/>
            <a:ext cx="319438" cy="270040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7" name="Freeform 27"/>
          <p:cNvSpPr>
            <a:spLocks noEditPoints="1"/>
          </p:cNvSpPr>
          <p:nvPr/>
        </p:nvSpPr>
        <p:spPr bwMode="auto">
          <a:xfrm>
            <a:off x="184072" y="1975423"/>
            <a:ext cx="265566" cy="284891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356647" y="187550"/>
            <a:ext cx="1503121" cy="32893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cs typeface="+mn-ea"/>
                <a:sym typeface="+mn-lt"/>
              </a:rPr>
              <a:t>Data Source</a:t>
            </a:r>
            <a:endParaRPr lang="zh-CN" altLang="en-US" sz="1600"/>
          </a:p>
        </p:txBody>
      </p:sp>
      <p:sp>
        <p:nvSpPr>
          <p:cNvPr id="58" name="矩形 57"/>
          <p:cNvSpPr/>
          <p:nvPr/>
        </p:nvSpPr>
        <p:spPr>
          <a:xfrm>
            <a:off x="9081770" y="3016885"/>
            <a:ext cx="2968625" cy="11988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lt"/>
              </a:rPr>
              <a:t>Centers for Disease Control and Prevention (CDC)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cs typeface="Arial Regular" panose="020B0604020202090204" charset="0"/>
              <a:sym typeface="+mn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4181921" y="2643208"/>
            <a:ext cx="5296551" cy="2967673"/>
            <a:chOff x="3442158" y="2277691"/>
            <a:chExt cx="5395910" cy="3023344"/>
          </a:xfrm>
        </p:grpSpPr>
        <p:grpSp>
          <p:nvGrpSpPr>
            <p:cNvPr id="60" name="Group 2"/>
            <p:cNvGrpSpPr>
              <a:grpSpLocks noChangeAspect="1"/>
            </p:cNvGrpSpPr>
            <p:nvPr/>
          </p:nvGrpSpPr>
          <p:grpSpPr bwMode="auto">
            <a:xfrm rot="5400000">
              <a:off x="4628441" y="1091408"/>
              <a:ext cx="3023344" cy="5395910"/>
              <a:chOff x="2689" y="825"/>
              <a:chExt cx="2311" cy="3300"/>
            </a:xfrm>
          </p:grpSpPr>
          <p:sp>
            <p:nvSpPr>
              <p:cNvPr id="65" name="Freeform: Shape 7"/>
              <p:cNvSpPr/>
              <p:nvPr/>
            </p:nvSpPr>
            <p:spPr bwMode="auto">
              <a:xfrm>
                <a:off x="4311" y="1179"/>
                <a:ext cx="462" cy="2068"/>
              </a:xfrm>
              <a:custGeom>
                <a:avLst/>
                <a:gdLst>
                  <a:gd name="T0" fmla="*/ 0 w 462"/>
                  <a:gd name="T1" fmla="*/ 0 h 2068"/>
                  <a:gd name="T2" fmla="*/ 0 w 462"/>
                  <a:gd name="T3" fmla="*/ 2068 h 2068"/>
                  <a:gd name="T4" fmla="*/ 462 w 462"/>
                  <a:gd name="T5" fmla="*/ 1702 h 2068"/>
                  <a:gd name="T6" fmla="*/ 462 w 462"/>
                  <a:gd name="T7" fmla="*/ 0 h 2068"/>
                  <a:gd name="T8" fmla="*/ 0 w 462"/>
                  <a:gd name="T9" fmla="*/ 0 h 20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2" h="2068">
                    <a:moveTo>
                      <a:pt x="0" y="0"/>
                    </a:moveTo>
                    <a:lnTo>
                      <a:pt x="0" y="2068"/>
                    </a:lnTo>
                    <a:lnTo>
                      <a:pt x="462" y="1702"/>
                    </a:lnTo>
                    <a:lnTo>
                      <a:pt x="46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6" name="Freeform: Shape 8"/>
              <p:cNvSpPr/>
              <p:nvPr/>
            </p:nvSpPr>
            <p:spPr bwMode="auto">
              <a:xfrm>
                <a:off x="4311" y="1179"/>
                <a:ext cx="462" cy="2068"/>
              </a:xfrm>
              <a:custGeom>
                <a:avLst/>
                <a:gdLst>
                  <a:gd name="T0" fmla="*/ 0 w 462"/>
                  <a:gd name="T1" fmla="*/ 0 h 2068"/>
                  <a:gd name="T2" fmla="*/ 0 w 462"/>
                  <a:gd name="T3" fmla="*/ 2068 h 2068"/>
                  <a:gd name="T4" fmla="*/ 462 w 462"/>
                  <a:gd name="T5" fmla="*/ 1702 h 2068"/>
                  <a:gd name="T6" fmla="*/ 462 w 462"/>
                  <a:gd name="T7" fmla="*/ 0 h 2068"/>
                  <a:gd name="T8" fmla="*/ 0 w 462"/>
                  <a:gd name="T9" fmla="*/ 0 h 20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2" h="2068">
                    <a:moveTo>
                      <a:pt x="0" y="0"/>
                    </a:moveTo>
                    <a:lnTo>
                      <a:pt x="0" y="2068"/>
                    </a:lnTo>
                    <a:lnTo>
                      <a:pt x="462" y="1702"/>
                    </a:lnTo>
                    <a:lnTo>
                      <a:pt x="46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7" name="Freeform: Shape 9"/>
              <p:cNvSpPr/>
              <p:nvPr/>
            </p:nvSpPr>
            <p:spPr bwMode="auto">
              <a:xfrm>
                <a:off x="4084" y="825"/>
                <a:ext cx="916" cy="395"/>
              </a:xfrm>
              <a:custGeom>
                <a:avLst/>
                <a:gdLst>
                  <a:gd name="T0" fmla="*/ 458 w 916"/>
                  <a:gd name="T1" fmla="*/ 0 h 395"/>
                  <a:gd name="T2" fmla="*/ 916 w 916"/>
                  <a:gd name="T3" fmla="*/ 395 h 395"/>
                  <a:gd name="T4" fmla="*/ 458 w 916"/>
                  <a:gd name="T5" fmla="*/ 395 h 395"/>
                  <a:gd name="T6" fmla="*/ 0 w 916"/>
                  <a:gd name="T7" fmla="*/ 395 h 395"/>
                  <a:gd name="T8" fmla="*/ 458 w 916"/>
                  <a:gd name="T9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6" h="395">
                    <a:moveTo>
                      <a:pt x="458" y="0"/>
                    </a:moveTo>
                    <a:lnTo>
                      <a:pt x="916" y="395"/>
                    </a:lnTo>
                    <a:lnTo>
                      <a:pt x="458" y="395"/>
                    </a:lnTo>
                    <a:lnTo>
                      <a:pt x="0" y="395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8" name="Freeform: Shape 10"/>
              <p:cNvSpPr/>
              <p:nvPr/>
            </p:nvSpPr>
            <p:spPr bwMode="auto">
              <a:xfrm>
                <a:off x="4084" y="825"/>
                <a:ext cx="916" cy="395"/>
              </a:xfrm>
              <a:custGeom>
                <a:avLst/>
                <a:gdLst>
                  <a:gd name="T0" fmla="*/ 458 w 916"/>
                  <a:gd name="T1" fmla="*/ 0 h 395"/>
                  <a:gd name="T2" fmla="*/ 916 w 916"/>
                  <a:gd name="T3" fmla="*/ 395 h 395"/>
                  <a:gd name="T4" fmla="*/ 458 w 916"/>
                  <a:gd name="T5" fmla="*/ 395 h 395"/>
                  <a:gd name="T6" fmla="*/ 0 w 916"/>
                  <a:gd name="T7" fmla="*/ 395 h 395"/>
                  <a:gd name="T8" fmla="*/ 458 w 916"/>
                  <a:gd name="T9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6" h="395">
                    <a:moveTo>
                      <a:pt x="458" y="0"/>
                    </a:moveTo>
                    <a:lnTo>
                      <a:pt x="916" y="395"/>
                    </a:lnTo>
                    <a:lnTo>
                      <a:pt x="458" y="395"/>
                    </a:lnTo>
                    <a:lnTo>
                      <a:pt x="0" y="395"/>
                    </a:lnTo>
                    <a:lnTo>
                      <a:pt x="4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9" name="Freeform: Shape 11"/>
              <p:cNvSpPr/>
              <p:nvPr/>
            </p:nvSpPr>
            <p:spPr bwMode="auto">
              <a:xfrm>
                <a:off x="4084" y="825"/>
                <a:ext cx="458" cy="395"/>
              </a:xfrm>
              <a:custGeom>
                <a:avLst/>
                <a:gdLst>
                  <a:gd name="T0" fmla="*/ 458 w 458"/>
                  <a:gd name="T1" fmla="*/ 0 h 395"/>
                  <a:gd name="T2" fmla="*/ 0 w 458"/>
                  <a:gd name="T3" fmla="*/ 395 h 395"/>
                  <a:gd name="T4" fmla="*/ 227 w 458"/>
                  <a:gd name="T5" fmla="*/ 395 h 395"/>
                  <a:gd name="T6" fmla="*/ 0 w 458"/>
                  <a:gd name="T7" fmla="*/ 395 h 395"/>
                  <a:gd name="T8" fmla="*/ 210 w 458"/>
                  <a:gd name="T9" fmla="*/ 214 h 395"/>
                  <a:gd name="T10" fmla="*/ 458 w 458"/>
                  <a:gd name="T11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8" h="395">
                    <a:moveTo>
                      <a:pt x="458" y="0"/>
                    </a:moveTo>
                    <a:lnTo>
                      <a:pt x="0" y="395"/>
                    </a:lnTo>
                    <a:lnTo>
                      <a:pt x="227" y="395"/>
                    </a:lnTo>
                    <a:lnTo>
                      <a:pt x="0" y="395"/>
                    </a:lnTo>
                    <a:lnTo>
                      <a:pt x="210" y="214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70" name="Freeform: Shape 12"/>
              <p:cNvSpPr/>
              <p:nvPr/>
            </p:nvSpPr>
            <p:spPr bwMode="auto">
              <a:xfrm>
                <a:off x="4084" y="825"/>
                <a:ext cx="458" cy="395"/>
              </a:xfrm>
              <a:custGeom>
                <a:avLst/>
                <a:gdLst>
                  <a:gd name="T0" fmla="*/ 458 w 458"/>
                  <a:gd name="T1" fmla="*/ 0 h 395"/>
                  <a:gd name="T2" fmla="*/ 0 w 458"/>
                  <a:gd name="T3" fmla="*/ 395 h 395"/>
                  <a:gd name="T4" fmla="*/ 227 w 458"/>
                  <a:gd name="T5" fmla="*/ 395 h 395"/>
                  <a:gd name="T6" fmla="*/ 0 w 458"/>
                  <a:gd name="T7" fmla="*/ 395 h 395"/>
                  <a:gd name="T8" fmla="*/ 210 w 458"/>
                  <a:gd name="T9" fmla="*/ 214 h 395"/>
                  <a:gd name="T10" fmla="*/ 458 w 458"/>
                  <a:gd name="T11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8" h="395">
                    <a:moveTo>
                      <a:pt x="458" y="0"/>
                    </a:moveTo>
                    <a:lnTo>
                      <a:pt x="0" y="395"/>
                    </a:lnTo>
                    <a:lnTo>
                      <a:pt x="227" y="395"/>
                    </a:lnTo>
                    <a:lnTo>
                      <a:pt x="0" y="395"/>
                    </a:lnTo>
                    <a:lnTo>
                      <a:pt x="210" y="214"/>
                    </a:lnTo>
                    <a:lnTo>
                      <a:pt x="4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76" name="Freeform: Shape 13"/>
              <p:cNvSpPr/>
              <p:nvPr/>
            </p:nvSpPr>
            <p:spPr bwMode="auto">
              <a:xfrm>
                <a:off x="4542" y="825"/>
                <a:ext cx="458" cy="395"/>
              </a:xfrm>
              <a:custGeom>
                <a:avLst/>
                <a:gdLst>
                  <a:gd name="T0" fmla="*/ 0 w 458"/>
                  <a:gd name="T1" fmla="*/ 0 h 395"/>
                  <a:gd name="T2" fmla="*/ 0 w 458"/>
                  <a:gd name="T3" fmla="*/ 0 h 395"/>
                  <a:gd name="T4" fmla="*/ 458 w 458"/>
                  <a:gd name="T5" fmla="*/ 395 h 395"/>
                  <a:gd name="T6" fmla="*/ 458 w 458"/>
                  <a:gd name="T7" fmla="*/ 395 h 395"/>
                  <a:gd name="T8" fmla="*/ 0 w 458"/>
                  <a:gd name="T9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8" h="395">
                    <a:moveTo>
                      <a:pt x="0" y="0"/>
                    </a:moveTo>
                    <a:lnTo>
                      <a:pt x="0" y="0"/>
                    </a:lnTo>
                    <a:lnTo>
                      <a:pt x="458" y="395"/>
                    </a:lnTo>
                    <a:lnTo>
                      <a:pt x="458" y="3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EAD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78" name="Freeform: Shape 14"/>
              <p:cNvSpPr/>
              <p:nvPr/>
            </p:nvSpPr>
            <p:spPr bwMode="auto">
              <a:xfrm>
                <a:off x="4542" y="825"/>
                <a:ext cx="458" cy="395"/>
              </a:xfrm>
              <a:custGeom>
                <a:avLst/>
                <a:gdLst>
                  <a:gd name="T0" fmla="*/ 0 w 458"/>
                  <a:gd name="T1" fmla="*/ 0 h 395"/>
                  <a:gd name="T2" fmla="*/ 0 w 458"/>
                  <a:gd name="T3" fmla="*/ 0 h 395"/>
                  <a:gd name="T4" fmla="*/ 458 w 458"/>
                  <a:gd name="T5" fmla="*/ 395 h 395"/>
                  <a:gd name="T6" fmla="*/ 458 w 458"/>
                  <a:gd name="T7" fmla="*/ 395 h 395"/>
                  <a:gd name="T8" fmla="*/ 0 w 458"/>
                  <a:gd name="T9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8" h="395">
                    <a:moveTo>
                      <a:pt x="0" y="0"/>
                    </a:moveTo>
                    <a:lnTo>
                      <a:pt x="0" y="0"/>
                    </a:lnTo>
                    <a:lnTo>
                      <a:pt x="458" y="395"/>
                    </a:lnTo>
                    <a:lnTo>
                      <a:pt x="458" y="39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79" name="Freeform: Shape 15"/>
              <p:cNvSpPr/>
              <p:nvPr/>
            </p:nvSpPr>
            <p:spPr bwMode="auto">
              <a:xfrm>
                <a:off x="4311" y="1220"/>
                <a:ext cx="462" cy="2027"/>
              </a:xfrm>
              <a:custGeom>
                <a:avLst/>
                <a:gdLst>
                  <a:gd name="T0" fmla="*/ 462 w 462"/>
                  <a:gd name="T1" fmla="*/ 0 h 2027"/>
                  <a:gd name="T2" fmla="*/ 231 w 462"/>
                  <a:gd name="T3" fmla="*/ 0 h 2027"/>
                  <a:gd name="T4" fmla="*/ 0 w 462"/>
                  <a:gd name="T5" fmla="*/ 0 h 2027"/>
                  <a:gd name="T6" fmla="*/ 0 w 462"/>
                  <a:gd name="T7" fmla="*/ 2027 h 2027"/>
                  <a:gd name="T8" fmla="*/ 462 w 462"/>
                  <a:gd name="T9" fmla="*/ 1661 h 2027"/>
                  <a:gd name="T10" fmla="*/ 462 w 462"/>
                  <a:gd name="T11" fmla="*/ 0 h 20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2027">
                    <a:moveTo>
                      <a:pt x="462" y="0"/>
                    </a:moveTo>
                    <a:lnTo>
                      <a:pt x="231" y="0"/>
                    </a:lnTo>
                    <a:lnTo>
                      <a:pt x="0" y="0"/>
                    </a:lnTo>
                    <a:lnTo>
                      <a:pt x="0" y="2027"/>
                    </a:lnTo>
                    <a:lnTo>
                      <a:pt x="462" y="1661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rgbClr val="4454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0" name="Freeform: Shape 16"/>
              <p:cNvSpPr/>
              <p:nvPr/>
            </p:nvSpPr>
            <p:spPr bwMode="auto">
              <a:xfrm>
                <a:off x="4311" y="1220"/>
                <a:ext cx="462" cy="2027"/>
              </a:xfrm>
              <a:custGeom>
                <a:avLst/>
                <a:gdLst>
                  <a:gd name="T0" fmla="*/ 462 w 462"/>
                  <a:gd name="T1" fmla="*/ 0 h 2027"/>
                  <a:gd name="T2" fmla="*/ 231 w 462"/>
                  <a:gd name="T3" fmla="*/ 0 h 2027"/>
                  <a:gd name="T4" fmla="*/ 0 w 462"/>
                  <a:gd name="T5" fmla="*/ 0 h 2027"/>
                  <a:gd name="T6" fmla="*/ 0 w 462"/>
                  <a:gd name="T7" fmla="*/ 2027 h 2027"/>
                  <a:gd name="T8" fmla="*/ 462 w 462"/>
                  <a:gd name="T9" fmla="*/ 1661 h 2027"/>
                  <a:gd name="T10" fmla="*/ 462 w 462"/>
                  <a:gd name="T11" fmla="*/ 0 h 20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2027">
                    <a:moveTo>
                      <a:pt x="462" y="0"/>
                    </a:moveTo>
                    <a:lnTo>
                      <a:pt x="231" y="0"/>
                    </a:lnTo>
                    <a:lnTo>
                      <a:pt x="0" y="0"/>
                    </a:lnTo>
                    <a:lnTo>
                      <a:pt x="0" y="2027"/>
                    </a:lnTo>
                    <a:lnTo>
                      <a:pt x="462" y="1661"/>
                    </a:lnTo>
                    <a:lnTo>
                      <a:pt x="4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1" name="Freeform: Shape 17"/>
              <p:cNvSpPr/>
              <p:nvPr/>
            </p:nvSpPr>
            <p:spPr bwMode="auto">
              <a:xfrm>
                <a:off x="4084" y="825"/>
                <a:ext cx="916" cy="395"/>
              </a:xfrm>
              <a:custGeom>
                <a:avLst/>
                <a:gdLst>
                  <a:gd name="T0" fmla="*/ 458 w 916"/>
                  <a:gd name="T1" fmla="*/ 0 h 395"/>
                  <a:gd name="T2" fmla="*/ 458 w 916"/>
                  <a:gd name="T3" fmla="*/ 0 h 395"/>
                  <a:gd name="T4" fmla="*/ 210 w 916"/>
                  <a:gd name="T5" fmla="*/ 214 h 395"/>
                  <a:gd name="T6" fmla="*/ 0 w 916"/>
                  <a:gd name="T7" fmla="*/ 395 h 395"/>
                  <a:gd name="T8" fmla="*/ 227 w 916"/>
                  <a:gd name="T9" fmla="*/ 395 h 395"/>
                  <a:gd name="T10" fmla="*/ 458 w 916"/>
                  <a:gd name="T11" fmla="*/ 395 h 395"/>
                  <a:gd name="T12" fmla="*/ 689 w 916"/>
                  <a:gd name="T13" fmla="*/ 395 h 395"/>
                  <a:gd name="T14" fmla="*/ 916 w 916"/>
                  <a:gd name="T15" fmla="*/ 395 h 395"/>
                  <a:gd name="T16" fmla="*/ 458 w 916"/>
                  <a:gd name="T17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6" h="395">
                    <a:moveTo>
                      <a:pt x="458" y="0"/>
                    </a:moveTo>
                    <a:lnTo>
                      <a:pt x="458" y="0"/>
                    </a:lnTo>
                    <a:lnTo>
                      <a:pt x="210" y="214"/>
                    </a:lnTo>
                    <a:lnTo>
                      <a:pt x="0" y="395"/>
                    </a:lnTo>
                    <a:lnTo>
                      <a:pt x="227" y="395"/>
                    </a:lnTo>
                    <a:lnTo>
                      <a:pt x="458" y="395"/>
                    </a:lnTo>
                    <a:lnTo>
                      <a:pt x="689" y="395"/>
                    </a:lnTo>
                    <a:lnTo>
                      <a:pt x="916" y="395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4454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2" name="Freeform: Shape 18"/>
              <p:cNvSpPr/>
              <p:nvPr/>
            </p:nvSpPr>
            <p:spPr bwMode="auto">
              <a:xfrm>
                <a:off x="4084" y="825"/>
                <a:ext cx="916" cy="395"/>
              </a:xfrm>
              <a:custGeom>
                <a:avLst/>
                <a:gdLst>
                  <a:gd name="T0" fmla="*/ 458 w 916"/>
                  <a:gd name="T1" fmla="*/ 0 h 395"/>
                  <a:gd name="T2" fmla="*/ 458 w 916"/>
                  <a:gd name="T3" fmla="*/ 0 h 395"/>
                  <a:gd name="T4" fmla="*/ 210 w 916"/>
                  <a:gd name="T5" fmla="*/ 214 h 395"/>
                  <a:gd name="T6" fmla="*/ 0 w 916"/>
                  <a:gd name="T7" fmla="*/ 395 h 395"/>
                  <a:gd name="T8" fmla="*/ 227 w 916"/>
                  <a:gd name="T9" fmla="*/ 395 h 395"/>
                  <a:gd name="T10" fmla="*/ 458 w 916"/>
                  <a:gd name="T11" fmla="*/ 395 h 395"/>
                  <a:gd name="T12" fmla="*/ 689 w 916"/>
                  <a:gd name="T13" fmla="*/ 395 h 395"/>
                  <a:gd name="T14" fmla="*/ 916 w 916"/>
                  <a:gd name="T15" fmla="*/ 395 h 395"/>
                  <a:gd name="T16" fmla="*/ 458 w 916"/>
                  <a:gd name="T17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6" h="395">
                    <a:moveTo>
                      <a:pt x="458" y="0"/>
                    </a:moveTo>
                    <a:lnTo>
                      <a:pt x="458" y="0"/>
                    </a:lnTo>
                    <a:lnTo>
                      <a:pt x="210" y="214"/>
                    </a:lnTo>
                    <a:lnTo>
                      <a:pt x="0" y="395"/>
                    </a:lnTo>
                    <a:lnTo>
                      <a:pt x="227" y="395"/>
                    </a:lnTo>
                    <a:lnTo>
                      <a:pt x="458" y="395"/>
                    </a:lnTo>
                    <a:lnTo>
                      <a:pt x="689" y="395"/>
                    </a:lnTo>
                    <a:lnTo>
                      <a:pt x="916" y="395"/>
                    </a:lnTo>
                    <a:lnTo>
                      <a:pt x="4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3" name="Freeform: Shape 19"/>
              <p:cNvSpPr/>
              <p:nvPr/>
            </p:nvSpPr>
            <p:spPr bwMode="auto">
              <a:xfrm>
                <a:off x="3844" y="1950"/>
                <a:ext cx="467" cy="1532"/>
              </a:xfrm>
              <a:custGeom>
                <a:avLst/>
                <a:gdLst>
                  <a:gd name="T0" fmla="*/ 0 w 467"/>
                  <a:gd name="T1" fmla="*/ 1532 h 1532"/>
                  <a:gd name="T2" fmla="*/ 0 w 467"/>
                  <a:gd name="T3" fmla="*/ 0 h 1532"/>
                  <a:gd name="T4" fmla="*/ 467 w 467"/>
                  <a:gd name="T5" fmla="*/ 366 h 1532"/>
                  <a:gd name="T6" fmla="*/ 467 w 467"/>
                  <a:gd name="T7" fmla="*/ 1532 h 1532"/>
                  <a:gd name="T8" fmla="*/ 0 w 467"/>
                  <a:gd name="T9" fmla="*/ 1532 h 1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7" h="1532">
                    <a:moveTo>
                      <a:pt x="0" y="1532"/>
                    </a:moveTo>
                    <a:lnTo>
                      <a:pt x="0" y="0"/>
                    </a:lnTo>
                    <a:lnTo>
                      <a:pt x="467" y="366"/>
                    </a:lnTo>
                    <a:lnTo>
                      <a:pt x="467" y="1532"/>
                    </a:lnTo>
                    <a:lnTo>
                      <a:pt x="0" y="1532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4" name="Freeform: Shape 20"/>
              <p:cNvSpPr/>
              <p:nvPr/>
            </p:nvSpPr>
            <p:spPr bwMode="auto">
              <a:xfrm>
                <a:off x="3844" y="1950"/>
                <a:ext cx="467" cy="1532"/>
              </a:xfrm>
              <a:custGeom>
                <a:avLst/>
                <a:gdLst>
                  <a:gd name="T0" fmla="*/ 0 w 467"/>
                  <a:gd name="T1" fmla="*/ 1532 h 1532"/>
                  <a:gd name="T2" fmla="*/ 0 w 467"/>
                  <a:gd name="T3" fmla="*/ 0 h 1532"/>
                  <a:gd name="T4" fmla="*/ 467 w 467"/>
                  <a:gd name="T5" fmla="*/ 366 h 1532"/>
                  <a:gd name="T6" fmla="*/ 467 w 467"/>
                  <a:gd name="T7" fmla="*/ 1532 h 1532"/>
                  <a:gd name="T8" fmla="*/ 0 w 467"/>
                  <a:gd name="T9" fmla="*/ 1532 h 1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7" h="1532">
                    <a:moveTo>
                      <a:pt x="0" y="1532"/>
                    </a:moveTo>
                    <a:lnTo>
                      <a:pt x="0" y="0"/>
                    </a:lnTo>
                    <a:lnTo>
                      <a:pt x="467" y="366"/>
                    </a:lnTo>
                    <a:lnTo>
                      <a:pt x="467" y="1532"/>
                    </a:lnTo>
                    <a:lnTo>
                      <a:pt x="0" y="153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5" name="Freeform: Shape 21"/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458 w 917"/>
                  <a:gd name="T1" fmla="*/ 396 h 396"/>
                  <a:gd name="T2" fmla="*/ 917 w 917"/>
                  <a:gd name="T3" fmla="*/ 0 h 396"/>
                  <a:gd name="T4" fmla="*/ 458 w 917"/>
                  <a:gd name="T5" fmla="*/ 0 h 396"/>
                  <a:gd name="T6" fmla="*/ 0 w 917"/>
                  <a:gd name="T7" fmla="*/ 0 h 396"/>
                  <a:gd name="T8" fmla="*/ 458 w 917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7" h="396">
                    <a:moveTo>
                      <a:pt x="458" y="396"/>
                    </a:moveTo>
                    <a:lnTo>
                      <a:pt x="917" y="0"/>
                    </a:lnTo>
                    <a:lnTo>
                      <a:pt x="458" y="0"/>
                    </a:lnTo>
                    <a:lnTo>
                      <a:pt x="0" y="0"/>
                    </a:lnTo>
                    <a:lnTo>
                      <a:pt x="458" y="39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6" name="Freeform: Shape 22"/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458 w 917"/>
                  <a:gd name="T1" fmla="*/ 396 h 396"/>
                  <a:gd name="T2" fmla="*/ 917 w 917"/>
                  <a:gd name="T3" fmla="*/ 0 h 396"/>
                  <a:gd name="T4" fmla="*/ 458 w 917"/>
                  <a:gd name="T5" fmla="*/ 0 h 396"/>
                  <a:gd name="T6" fmla="*/ 0 w 917"/>
                  <a:gd name="T7" fmla="*/ 0 h 396"/>
                  <a:gd name="T8" fmla="*/ 458 w 917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7" h="396">
                    <a:moveTo>
                      <a:pt x="458" y="396"/>
                    </a:moveTo>
                    <a:lnTo>
                      <a:pt x="917" y="0"/>
                    </a:lnTo>
                    <a:lnTo>
                      <a:pt x="458" y="0"/>
                    </a:lnTo>
                    <a:lnTo>
                      <a:pt x="0" y="0"/>
                    </a:lnTo>
                    <a:lnTo>
                      <a:pt x="458" y="39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7" name="Freeform: Shape 23"/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917 w 917"/>
                  <a:gd name="T1" fmla="*/ 0 h 396"/>
                  <a:gd name="T2" fmla="*/ 917 w 917"/>
                  <a:gd name="T3" fmla="*/ 0 h 396"/>
                  <a:gd name="T4" fmla="*/ 458 w 917"/>
                  <a:gd name="T5" fmla="*/ 396 h 396"/>
                  <a:gd name="T6" fmla="*/ 0 w 917"/>
                  <a:gd name="T7" fmla="*/ 0 h 396"/>
                  <a:gd name="T8" fmla="*/ 0 w 917"/>
                  <a:gd name="T9" fmla="*/ 0 h 396"/>
                  <a:gd name="T10" fmla="*/ 458 w 917"/>
                  <a:gd name="T11" fmla="*/ 396 h 396"/>
                  <a:gd name="T12" fmla="*/ 917 w 917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7" h="396">
                    <a:moveTo>
                      <a:pt x="917" y="0"/>
                    </a:moveTo>
                    <a:lnTo>
                      <a:pt x="917" y="0"/>
                    </a:lnTo>
                    <a:lnTo>
                      <a:pt x="458" y="39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7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8" name="Freeform: Shape 24"/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917 w 917"/>
                  <a:gd name="T1" fmla="*/ 0 h 396"/>
                  <a:gd name="T2" fmla="*/ 917 w 917"/>
                  <a:gd name="T3" fmla="*/ 0 h 396"/>
                  <a:gd name="T4" fmla="*/ 458 w 917"/>
                  <a:gd name="T5" fmla="*/ 396 h 396"/>
                  <a:gd name="T6" fmla="*/ 0 w 917"/>
                  <a:gd name="T7" fmla="*/ 0 h 396"/>
                  <a:gd name="T8" fmla="*/ 0 w 917"/>
                  <a:gd name="T9" fmla="*/ 0 h 396"/>
                  <a:gd name="T10" fmla="*/ 458 w 917"/>
                  <a:gd name="T11" fmla="*/ 396 h 396"/>
                  <a:gd name="T12" fmla="*/ 917 w 917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7" h="396">
                    <a:moveTo>
                      <a:pt x="917" y="0"/>
                    </a:moveTo>
                    <a:lnTo>
                      <a:pt x="917" y="0"/>
                    </a:lnTo>
                    <a:lnTo>
                      <a:pt x="458" y="39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89" name="Freeform: Shape 25"/>
              <p:cNvSpPr/>
              <p:nvPr/>
            </p:nvSpPr>
            <p:spPr bwMode="auto">
              <a:xfrm>
                <a:off x="3617" y="1950"/>
                <a:ext cx="917" cy="1491"/>
              </a:xfrm>
              <a:custGeom>
                <a:avLst/>
                <a:gdLst>
                  <a:gd name="T0" fmla="*/ 227 w 917"/>
                  <a:gd name="T1" fmla="*/ 1491 h 1491"/>
                  <a:gd name="T2" fmla="*/ 0 w 917"/>
                  <a:gd name="T3" fmla="*/ 1491 h 1491"/>
                  <a:gd name="T4" fmla="*/ 227 w 917"/>
                  <a:gd name="T5" fmla="*/ 1491 h 1491"/>
                  <a:gd name="T6" fmla="*/ 227 w 917"/>
                  <a:gd name="T7" fmla="*/ 1491 h 1491"/>
                  <a:gd name="T8" fmla="*/ 227 w 917"/>
                  <a:gd name="T9" fmla="*/ 0 h 1491"/>
                  <a:gd name="T10" fmla="*/ 227 w 917"/>
                  <a:gd name="T11" fmla="*/ 0 h 1491"/>
                  <a:gd name="T12" fmla="*/ 694 w 917"/>
                  <a:gd name="T13" fmla="*/ 366 h 1491"/>
                  <a:gd name="T14" fmla="*/ 694 w 917"/>
                  <a:gd name="T15" fmla="*/ 1491 h 1491"/>
                  <a:gd name="T16" fmla="*/ 917 w 917"/>
                  <a:gd name="T17" fmla="*/ 1491 h 1491"/>
                  <a:gd name="T18" fmla="*/ 917 w 917"/>
                  <a:gd name="T19" fmla="*/ 1491 h 1491"/>
                  <a:gd name="T20" fmla="*/ 694 w 917"/>
                  <a:gd name="T21" fmla="*/ 1491 h 1491"/>
                  <a:gd name="T22" fmla="*/ 694 w 917"/>
                  <a:gd name="T23" fmla="*/ 366 h 1491"/>
                  <a:gd name="T24" fmla="*/ 227 w 917"/>
                  <a:gd name="T25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7" h="1491">
                    <a:moveTo>
                      <a:pt x="227" y="1491"/>
                    </a:moveTo>
                    <a:lnTo>
                      <a:pt x="0" y="1491"/>
                    </a:lnTo>
                    <a:lnTo>
                      <a:pt x="227" y="1491"/>
                    </a:lnTo>
                    <a:lnTo>
                      <a:pt x="227" y="1491"/>
                    </a:lnTo>
                    <a:close/>
                    <a:moveTo>
                      <a:pt x="227" y="0"/>
                    </a:moveTo>
                    <a:lnTo>
                      <a:pt x="227" y="0"/>
                    </a:lnTo>
                    <a:lnTo>
                      <a:pt x="694" y="366"/>
                    </a:lnTo>
                    <a:lnTo>
                      <a:pt x="694" y="1491"/>
                    </a:lnTo>
                    <a:lnTo>
                      <a:pt x="917" y="1491"/>
                    </a:lnTo>
                    <a:lnTo>
                      <a:pt x="917" y="1491"/>
                    </a:lnTo>
                    <a:lnTo>
                      <a:pt x="694" y="1491"/>
                    </a:lnTo>
                    <a:lnTo>
                      <a:pt x="694" y="366"/>
                    </a:lnTo>
                    <a:lnTo>
                      <a:pt x="227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0" name="Freeform: Shape 26"/>
              <p:cNvSpPr/>
              <p:nvPr/>
            </p:nvSpPr>
            <p:spPr bwMode="auto">
              <a:xfrm>
                <a:off x="3617" y="1950"/>
                <a:ext cx="917" cy="1491"/>
              </a:xfrm>
              <a:custGeom>
                <a:avLst/>
                <a:gdLst>
                  <a:gd name="T0" fmla="*/ 227 w 917"/>
                  <a:gd name="T1" fmla="*/ 1491 h 1491"/>
                  <a:gd name="T2" fmla="*/ 0 w 917"/>
                  <a:gd name="T3" fmla="*/ 1491 h 1491"/>
                  <a:gd name="T4" fmla="*/ 227 w 917"/>
                  <a:gd name="T5" fmla="*/ 1491 h 1491"/>
                  <a:gd name="T6" fmla="*/ 227 w 917"/>
                  <a:gd name="T7" fmla="*/ 1491 h 1491"/>
                  <a:gd name="T8" fmla="*/ 227 w 917"/>
                  <a:gd name="T9" fmla="*/ 0 h 1491"/>
                  <a:gd name="T10" fmla="*/ 227 w 917"/>
                  <a:gd name="T11" fmla="*/ 0 h 1491"/>
                  <a:gd name="T12" fmla="*/ 694 w 917"/>
                  <a:gd name="T13" fmla="*/ 366 h 1491"/>
                  <a:gd name="T14" fmla="*/ 694 w 917"/>
                  <a:gd name="T15" fmla="*/ 1491 h 1491"/>
                  <a:gd name="T16" fmla="*/ 917 w 917"/>
                  <a:gd name="T17" fmla="*/ 1491 h 1491"/>
                  <a:gd name="T18" fmla="*/ 917 w 917"/>
                  <a:gd name="T19" fmla="*/ 1491 h 1491"/>
                  <a:gd name="T20" fmla="*/ 694 w 917"/>
                  <a:gd name="T21" fmla="*/ 1491 h 1491"/>
                  <a:gd name="T22" fmla="*/ 694 w 917"/>
                  <a:gd name="T23" fmla="*/ 366 h 1491"/>
                  <a:gd name="T24" fmla="*/ 227 w 917"/>
                  <a:gd name="T25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7" h="1491">
                    <a:moveTo>
                      <a:pt x="227" y="1491"/>
                    </a:moveTo>
                    <a:lnTo>
                      <a:pt x="0" y="1491"/>
                    </a:lnTo>
                    <a:lnTo>
                      <a:pt x="227" y="1491"/>
                    </a:lnTo>
                    <a:lnTo>
                      <a:pt x="227" y="1491"/>
                    </a:lnTo>
                    <a:moveTo>
                      <a:pt x="227" y="0"/>
                    </a:moveTo>
                    <a:lnTo>
                      <a:pt x="227" y="0"/>
                    </a:lnTo>
                    <a:lnTo>
                      <a:pt x="694" y="366"/>
                    </a:lnTo>
                    <a:lnTo>
                      <a:pt x="694" y="1491"/>
                    </a:lnTo>
                    <a:lnTo>
                      <a:pt x="917" y="1491"/>
                    </a:lnTo>
                    <a:lnTo>
                      <a:pt x="917" y="1491"/>
                    </a:lnTo>
                    <a:lnTo>
                      <a:pt x="694" y="1491"/>
                    </a:lnTo>
                    <a:lnTo>
                      <a:pt x="694" y="366"/>
                    </a:lnTo>
                    <a:lnTo>
                      <a:pt x="22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1" name="Freeform: Shape 27"/>
              <p:cNvSpPr/>
              <p:nvPr/>
            </p:nvSpPr>
            <p:spPr bwMode="auto">
              <a:xfrm>
                <a:off x="3844" y="1950"/>
                <a:ext cx="467" cy="1491"/>
              </a:xfrm>
              <a:custGeom>
                <a:avLst/>
                <a:gdLst>
                  <a:gd name="T0" fmla="*/ 0 w 467"/>
                  <a:gd name="T1" fmla="*/ 0 h 1491"/>
                  <a:gd name="T2" fmla="*/ 0 w 467"/>
                  <a:gd name="T3" fmla="*/ 1491 h 1491"/>
                  <a:gd name="T4" fmla="*/ 0 w 467"/>
                  <a:gd name="T5" fmla="*/ 1491 h 1491"/>
                  <a:gd name="T6" fmla="*/ 231 w 467"/>
                  <a:gd name="T7" fmla="*/ 1491 h 1491"/>
                  <a:gd name="T8" fmla="*/ 467 w 467"/>
                  <a:gd name="T9" fmla="*/ 1491 h 1491"/>
                  <a:gd name="T10" fmla="*/ 467 w 467"/>
                  <a:gd name="T11" fmla="*/ 366 h 1491"/>
                  <a:gd name="T12" fmla="*/ 0 w 467"/>
                  <a:gd name="T13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1491">
                    <a:moveTo>
                      <a:pt x="0" y="0"/>
                    </a:moveTo>
                    <a:lnTo>
                      <a:pt x="0" y="1491"/>
                    </a:lnTo>
                    <a:lnTo>
                      <a:pt x="0" y="1491"/>
                    </a:lnTo>
                    <a:lnTo>
                      <a:pt x="231" y="1491"/>
                    </a:lnTo>
                    <a:lnTo>
                      <a:pt x="467" y="1491"/>
                    </a:lnTo>
                    <a:lnTo>
                      <a:pt x="467" y="3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2" name="Freeform: Shape 28"/>
              <p:cNvSpPr/>
              <p:nvPr/>
            </p:nvSpPr>
            <p:spPr bwMode="auto">
              <a:xfrm>
                <a:off x="3844" y="1950"/>
                <a:ext cx="467" cy="1491"/>
              </a:xfrm>
              <a:custGeom>
                <a:avLst/>
                <a:gdLst>
                  <a:gd name="T0" fmla="*/ 0 w 467"/>
                  <a:gd name="T1" fmla="*/ 0 h 1491"/>
                  <a:gd name="T2" fmla="*/ 0 w 467"/>
                  <a:gd name="T3" fmla="*/ 1491 h 1491"/>
                  <a:gd name="T4" fmla="*/ 0 w 467"/>
                  <a:gd name="T5" fmla="*/ 1491 h 1491"/>
                  <a:gd name="T6" fmla="*/ 231 w 467"/>
                  <a:gd name="T7" fmla="*/ 1491 h 1491"/>
                  <a:gd name="T8" fmla="*/ 467 w 467"/>
                  <a:gd name="T9" fmla="*/ 1491 h 1491"/>
                  <a:gd name="T10" fmla="*/ 467 w 467"/>
                  <a:gd name="T11" fmla="*/ 366 h 1491"/>
                  <a:gd name="T12" fmla="*/ 0 w 467"/>
                  <a:gd name="T13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1491">
                    <a:moveTo>
                      <a:pt x="0" y="0"/>
                    </a:moveTo>
                    <a:lnTo>
                      <a:pt x="0" y="1491"/>
                    </a:lnTo>
                    <a:lnTo>
                      <a:pt x="0" y="1491"/>
                    </a:lnTo>
                    <a:lnTo>
                      <a:pt x="231" y="1491"/>
                    </a:lnTo>
                    <a:lnTo>
                      <a:pt x="467" y="1491"/>
                    </a:lnTo>
                    <a:lnTo>
                      <a:pt x="467" y="36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3" name="Freeform: Shape 29"/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917 w 917"/>
                  <a:gd name="T1" fmla="*/ 0 h 396"/>
                  <a:gd name="T2" fmla="*/ 694 w 917"/>
                  <a:gd name="T3" fmla="*/ 0 h 396"/>
                  <a:gd name="T4" fmla="*/ 458 w 917"/>
                  <a:gd name="T5" fmla="*/ 0 h 396"/>
                  <a:gd name="T6" fmla="*/ 227 w 917"/>
                  <a:gd name="T7" fmla="*/ 0 h 396"/>
                  <a:gd name="T8" fmla="*/ 0 w 917"/>
                  <a:gd name="T9" fmla="*/ 0 h 396"/>
                  <a:gd name="T10" fmla="*/ 458 w 917"/>
                  <a:gd name="T11" fmla="*/ 396 h 396"/>
                  <a:gd name="T12" fmla="*/ 917 w 917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7" h="396">
                    <a:moveTo>
                      <a:pt x="917" y="0"/>
                    </a:moveTo>
                    <a:lnTo>
                      <a:pt x="694" y="0"/>
                    </a:lnTo>
                    <a:lnTo>
                      <a:pt x="458" y="0"/>
                    </a:lnTo>
                    <a:lnTo>
                      <a:pt x="227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4" name="Freeform: Shape 30"/>
              <p:cNvSpPr/>
              <p:nvPr/>
            </p:nvSpPr>
            <p:spPr bwMode="auto">
              <a:xfrm>
                <a:off x="3378" y="1426"/>
                <a:ext cx="466" cy="1591"/>
              </a:xfrm>
              <a:custGeom>
                <a:avLst/>
                <a:gdLst>
                  <a:gd name="T0" fmla="*/ 466 w 466"/>
                  <a:gd name="T1" fmla="*/ 0 h 1591"/>
                  <a:gd name="T2" fmla="*/ 466 w 466"/>
                  <a:gd name="T3" fmla="*/ 1591 h 1591"/>
                  <a:gd name="T4" fmla="*/ 0 w 466"/>
                  <a:gd name="T5" fmla="*/ 1224 h 1591"/>
                  <a:gd name="T6" fmla="*/ 0 w 466"/>
                  <a:gd name="T7" fmla="*/ 0 h 1591"/>
                  <a:gd name="T8" fmla="*/ 466 w 466"/>
                  <a:gd name="T9" fmla="*/ 0 h 1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6" h="1591">
                    <a:moveTo>
                      <a:pt x="466" y="0"/>
                    </a:moveTo>
                    <a:lnTo>
                      <a:pt x="466" y="1591"/>
                    </a:lnTo>
                    <a:lnTo>
                      <a:pt x="0" y="1224"/>
                    </a:lnTo>
                    <a:lnTo>
                      <a:pt x="0" y="0"/>
                    </a:lnTo>
                    <a:lnTo>
                      <a:pt x="466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5" name="Freeform: Shape 31"/>
              <p:cNvSpPr/>
              <p:nvPr/>
            </p:nvSpPr>
            <p:spPr bwMode="auto">
              <a:xfrm>
                <a:off x="3378" y="1426"/>
                <a:ext cx="466" cy="1591"/>
              </a:xfrm>
              <a:custGeom>
                <a:avLst/>
                <a:gdLst>
                  <a:gd name="T0" fmla="*/ 466 w 466"/>
                  <a:gd name="T1" fmla="*/ 0 h 1591"/>
                  <a:gd name="T2" fmla="*/ 466 w 466"/>
                  <a:gd name="T3" fmla="*/ 1591 h 1591"/>
                  <a:gd name="T4" fmla="*/ 0 w 466"/>
                  <a:gd name="T5" fmla="*/ 1224 h 1591"/>
                  <a:gd name="T6" fmla="*/ 0 w 466"/>
                  <a:gd name="T7" fmla="*/ 0 h 1591"/>
                  <a:gd name="T8" fmla="*/ 466 w 466"/>
                  <a:gd name="T9" fmla="*/ 0 h 1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6" h="1591">
                    <a:moveTo>
                      <a:pt x="466" y="0"/>
                    </a:moveTo>
                    <a:lnTo>
                      <a:pt x="466" y="1591"/>
                    </a:lnTo>
                    <a:lnTo>
                      <a:pt x="0" y="1224"/>
                    </a:lnTo>
                    <a:lnTo>
                      <a:pt x="0" y="0"/>
                    </a:lnTo>
                    <a:lnTo>
                      <a:pt x="4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6" name="Freeform: Shape 32"/>
              <p:cNvSpPr/>
              <p:nvPr/>
            </p:nvSpPr>
            <p:spPr bwMode="auto">
              <a:xfrm>
                <a:off x="3151" y="1072"/>
                <a:ext cx="920" cy="396"/>
              </a:xfrm>
              <a:custGeom>
                <a:avLst/>
                <a:gdLst>
                  <a:gd name="T0" fmla="*/ 462 w 920"/>
                  <a:gd name="T1" fmla="*/ 0 h 396"/>
                  <a:gd name="T2" fmla="*/ 0 w 920"/>
                  <a:gd name="T3" fmla="*/ 396 h 396"/>
                  <a:gd name="T4" fmla="*/ 462 w 920"/>
                  <a:gd name="T5" fmla="*/ 396 h 396"/>
                  <a:gd name="T6" fmla="*/ 920 w 920"/>
                  <a:gd name="T7" fmla="*/ 396 h 396"/>
                  <a:gd name="T8" fmla="*/ 462 w 920"/>
                  <a:gd name="T9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0" h="396">
                    <a:moveTo>
                      <a:pt x="462" y="0"/>
                    </a:moveTo>
                    <a:lnTo>
                      <a:pt x="0" y="396"/>
                    </a:lnTo>
                    <a:lnTo>
                      <a:pt x="462" y="396"/>
                    </a:lnTo>
                    <a:lnTo>
                      <a:pt x="920" y="396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rgbClr val="1F4E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7" name="Freeform: Shape 33"/>
              <p:cNvSpPr/>
              <p:nvPr/>
            </p:nvSpPr>
            <p:spPr bwMode="auto">
              <a:xfrm>
                <a:off x="3151" y="1072"/>
                <a:ext cx="920" cy="396"/>
              </a:xfrm>
              <a:custGeom>
                <a:avLst/>
                <a:gdLst>
                  <a:gd name="T0" fmla="*/ 462 w 920"/>
                  <a:gd name="T1" fmla="*/ 0 h 396"/>
                  <a:gd name="T2" fmla="*/ 0 w 920"/>
                  <a:gd name="T3" fmla="*/ 396 h 396"/>
                  <a:gd name="T4" fmla="*/ 462 w 920"/>
                  <a:gd name="T5" fmla="*/ 396 h 396"/>
                  <a:gd name="T6" fmla="*/ 920 w 920"/>
                  <a:gd name="T7" fmla="*/ 396 h 396"/>
                  <a:gd name="T8" fmla="*/ 462 w 920"/>
                  <a:gd name="T9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0" h="396">
                    <a:moveTo>
                      <a:pt x="462" y="0"/>
                    </a:moveTo>
                    <a:lnTo>
                      <a:pt x="0" y="396"/>
                    </a:lnTo>
                    <a:lnTo>
                      <a:pt x="462" y="396"/>
                    </a:lnTo>
                    <a:lnTo>
                      <a:pt x="920" y="396"/>
                    </a:lnTo>
                    <a:lnTo>
                      <a:pt x="4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8" name="Freeform: Shape 34"/>
              <p:cNvSpPr/>
              <p:nvPr/>
            </p:nvSpPr>
            <p:spPr bwMode="auto">
              <a:xfrm>
                <a:off x="3378" y="1468"/>
                <a:ext cx="466" cy="1549"/>
              </a:xfrm>
              <a:custGeom>
                <a:avLst/>
                <a:gdLst>
                  <a:gd name="T0" fmla="*/ 466 w 466"/>
                  <a:gd name="T1" fmla="*/ 0 h 1549"/>
                  <a:gd name="T2" fmla="*/ 235 w 466"/>
                  <a:gd name="T3" fmla="*/ 0 h 1549"/>
                  <a:gd name="T4" fmla="*/ 0 w 466"/>
                  <a:gd name="T5" fmla="*/ 0 h 1549"/>
                  <a:gd name="T6" fmla="*/ 0 w 466"/>
                  <a:gd name="T7" fmla="*/ 539 h 1549"/>
                  <a:gd name="T8" fmla="*/ 0 w 466"/>
                  <a:gd name="T9" fmla="*/ 539 h 1549"/>
                  <a:gd name="T10" fmla="*/ 0 w 466"/>
                  <a:gd name="T11" fmla="*/ 1182 h 1549"/>
                  <a:gd name="T12" fmla="*/ 466 w 466"/>
                  <a:gd name="T13" fmla="*/ 1549 h 1549"/>
                  <a:gd name="T14" fmla="*/ 466 w 466"/>
                  <a:gd name="T15" fmla="*/ 0 h 1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6" h="1549">
                    <a:moveTo>
                      <a:pt x="466" y="0"/>
                    </a:moveTo>
                    <a:lnTo>
                      <a:pt x="235" y="0"/>
                    </a:lnTo>
                    <a:lnTo>
                      <a:pt x="0" y="0"/>
                    </a:lnTo>
                    <a:lnTo>
                      <a:pt x="0" y="539"/>
                    </a:lnTo>
                    <a:lnTo>
                      <a:pt x="0" y="539"/>
                    </a:lnTo>
                    <a:lnTo>
                      <a:pt x="0" y="1182"/>
                    </a:lnTo>
                    <a:lnTo>
                      <a:pt x="466" y="1549"/>
                    </a:lnTo>
                    <a:lnTo>
                      <a:pt x="466" y="0"/>
                    </a:lnTo>
                    <a:close/>
                  </a:path>
                </a:pathLst>
              </a:custGeom>
              <a:solidFill>
                <a:srgbClr val="1F4E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9" name="Freeform: Shape 35"/>
              <p:cNvSpPr/>
              <p:nvPr/>
            </p:nvSpPr>
            <p:spPr bwMode="auto">
              <a:xfrm>
                <a:off x="3378" y="1468"/>
                <a:ext cx="466" cy="1549"/>
              </a:xfrm>
              <a:custGeom>
                <a:avLst/>
                <a:gdLst>
                  <a:gd name="T0" fmla="*/ 466 w 466"/>
                  <a:gd name="T1" fmla="*/ 0 h 1549"/>
                  <a:gd name="T2" fmla="*/ 235 w 466"/>
                  <a:gd name="T3" fmla="*/ 0 h 1549"/>
                  <a:gd name="T4" fmla="*/ 0 w 466"/>
                  <a:gd name="T5" fmla="*/ 0 h 1549"/>
                  <a:gd name="T6" fmla="*/ 0 w 466"/>
                  <a:gd name="T7" fmla="*/ 539 h 1549"/>
                  <a:gd name="T8" fmla="*/ 0 w 466"/>
                  <a:gd name="T9" fmla="*/ 539 h 1549"/>
                  <a:gd name="T10" fmla="*/ 0 w 466"/>
                  <a:gd name="T11" fmla="*/ 1182 h 1549"/>
                  <a:gd name="T12" fmla="*/ 466 w 466"/>
                  <a:gd name="T13" fmla="*/ 1549 h 1549"/>
                  <a:gd name="T14" fmla="*/ 466 w 466"/>
                  <a:gd name="T15" fmla="*/ 0 h 1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6" h="1549">
                    <a:moveTo>
                      <a:pt x="466" y="0"/>
                    </a:moveTo>
                    <a:lnTo>
                      <a:pt x="235" y="0"/>
                    </a:lnTo>
                    <a:lnTo>
                      <a:pt x="0" y="0"/>
                    </a:lnTo>
                    <a:lnTo>
                      <a:pt x="0" y="539"/>
                    </a:lnTo>
                    <a:lnTo>
                      <a:pt x="0" y="539"/>
                    </a:lnTo>
                    <a:lnTo>
                      <a:pt x="0" y="1182"/>
                    </a:lnTo>
                    <a:lnTo>
                      <a:pt x="466" y="1549"/>
                    </a:lnTo>
                    <a:lnTo>
                      <a:pt x="4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0" name="Freeform: Shape 36"/>
              <p:cNvSpPr/>
              <p:nvPr/>
            </p:nvSpPr>
            <p:spPr bwMode="auto">
              <a:xfrm>
                <a:off x="3151" y="1072"/>
                <a:ext cx="920" cy="396"/>
              </a:xfrm>
              <a:custGeom>
                <a:avLst/>
                <a:gdLst>
                  <a:gd name="T0" fmla="*/ 462 w 920"/>
                  <a:gd name="T1" fmla="*/ 0 h 396"/>
                  <a:gd name="T2" fmla="*/ 0 w 920"/>
                  <a:gd name="T3" fmla="*/ 396 h 396"/>
                  <a:gd name="T4" fmla="*/ 227 w 920"/>
                  <a:gd name="T5" fmla="*/ 396 h 396"/>
                  <a:gd name="T6" fmla="*/ 462 w 920"/>
                  <a:gd name="T7" fmla="*/ 396 h 396"/>
                  <a:gd name="T8" fmla="*/ 693 w 920"/>
                  <a:gd name="T9" fmla="*/ 396 h 396"/>
                  <a:gd name="T10" fmla="*/ 920 w 920"/>
                  <a:gd name="T11" fmla="*/ 396 h 396"/>
                  <a:gd name="T12" fmla="*/ 462 w 920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0" h="396">
                    <a:moveTo>
                      <a:pt x="462" y="0"/>
                    </a:moveTo>
                    <a:lnTo>
                      <a:pt x="0" y="396"/>
                    </a:lnTo>
                    <a:lnTo>
                      <a:pt x="227" y="396"/>
                    </a:lnTo>
                    <a:lnTo>
                      <a:pt x="462" y="396"/>
                    </a:lnTo>
                    <a:lnTo>
                      <a:pt x="693" y="396"/>
                    </a:lnTo>
                    <a:lnTo>
                      <a:pt x="920" y="396"/>
                    </a:lnTo>
                    <a:lnTo>
                      <a:pt x="4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1" name="Freeform: Shape 37"/>
              <p:cNvSpPr/>
              <p:nvPr/>
            </p:nvSpPr>
            <p:spPr bwMode="auto">
              <a:xfrm>
                <a:off x="2916" y="2007"/>
                <a:ext cx="462" cy="1768"/>
              </a:xfrm>
              <a:custGeom>
                <a:avLst/>
                <a:gdLst>
                  <a:gd name="T0" fmla="*/ 462 w 462"/>
                  <a:gd name="T1" fmla="*/ 1768 h 1768"/>
                  <a:gd name="T2" fmla="*/ 462 w 462"/>
                  <a:gd name="T3" fmla="*/ 0 h 1768"/>
                  <a:gd name="T4" fmla="*/ 0 w 462"/>
                  <a:gd name="T5" fmla="*/ 367 h 1768"/>
                  <a:gd name="T6" fmla="*/ 0 w 462"/>
                  <a:gd name="T7" fmla="*/ 1768 h 1768"/>
                  <a:gd name="T8" fmla="*/ 462 w 462"/>
                  <a:gd name="T9" fmla="*/ 1768 h 1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2" h="1768">
                    <a:moveTo>
                      <a:pt x="462" y="1768"/>
                    </a:moveTo>
                    <a:lnTo>
                      <a:pt x="462" y="0"/>
                    </a:lnTo>
                    <a:lnTo>
                      <a:pt x="0" y="367"/>
                    </a:lnTo>
                    <a:lnTo>
                      <a:pt x="0" y="1768"/>
                    </a:lnTo>
                    <a:lnTo>
                      <a:pt x="462" y="1768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2" name="Freeform: Shape 38"/>
              <p:cNvSpPr/>
              <p:nvPr/>
            </p:nvSpPr>
            <p:spPr bwMode="auto">
              <a:xfrm>
                <a:off x="2916" y="2007"/>
                <a:ext cx="462" cy="1768"/>
              </a:xfrm>
              <a:custGeom>
                <a:avLst/>
                <a:gdLst>
                  <a:gd name="T0" fmla="*/ 462 w 462"/>
                  <a:gd name="T1" fmla="*/ 1768 h 1768"/>
                  <a:gd name="T2" fmla="*/ 462 w 462"/>
                  <a:gd name="T3" fmla="*/ 0 h 1768"/>
                  <a:gd name="T4" fmla="*/ 0 w 462"/>
                  <a:gd name="T5" fmla="*/ 367 h 1768"/>
                  <a:gd name="T6" fmla="*/ 0 w 462"/>
                  <a:gd name="T7" fmla="*/ 1768 h 1768"/>
                  <a:gd name="T8" fmla="*/ 462 w 462"/>
                  <a:gd name="T9" fmla="*/ 1768 h 1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2" h="1768">
                    <a:moveTo>
                      <a:pt x="462" y="1768"/>
                    </a:moveTo>
                    <a:lnTo>
                      <a:pt x="462" y="0"/>
                    </a:lnTo>
                    <a:lnTo>
                      <a:pt x="0" y="367"/>
                    </a:lnTo>
                    <a:lnTo>
                      <a:pt x="0" y="1768"/>
                    </a:lnTo>
                    <a:lnTo>
                      <a:pt x="462" y="176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3" name="Freeform: Shape 39"/>
              <p:cNvSpPr/>
              <p:nvPr/>
            </p:nvSpPr>
            <p:spPr bwMode="auto">
              <a:xfrm>
                <a:off x="2689" y="3729"/>
                <a:ext cx="916" cy="396"/>
              </a:xfrm>
              <a:custGeom>
                <a:avLst/>
                <a:gdLst>
                  <a:gd name="T0" fmla="*/ 458 w 916"/>
                  <a:gd name="T1" fmla="*/ 396 h 396"/>
                  <a:gd name="T2" fmla="*/ 0 w 916"/>
                  <a:gd name="T3" fmla="*/ 0 h 396"/>
                  <a:gd name="T4" fmla="*/ 458 w 916"/>
                  <a:gd name="T5" fmla="*/ 0 h 396"/>
                  <a:gd name="T6" fmla="*/ 916 w 916"/>
                  <a:gd name="T7" fmla="*/ 0 h 396"/>
                  <a:gd name="T8" fmla="*/ 458 w 916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6" h="396">
                    <a:moveTo>
                      <a:pt x="458" y="396"/>
                    </a:moveTo>
                    <a:lnTo>
                      <a:pt x="0" y="0"/>
                    </a:lnTo>
                    <a:lnTo>
                      <a:pt x="458" y="0"/>
                    </a:lnTo>
                    <a:lnTo>
                      <a:pt x="916" y="0"/>
                    </a:lnTo>
                    <a:lnTo>
                      <a:pt x="458" y="396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4" name="Freeform: Shape 40"/>
              <p:cNvSpPr/>
              <p:nvPr/>
            </p:nvSpPr>
            <p:spPr bwMode="auto">
              <a:xfrm>
                <a:off x="2689" y="3729"/>
                <a:ext cx="916" cy="396"/>
              </a:xfrm>
              <a:custGeom>
                <a:avLst/>
                <a:gdLst>
                  <a:gd name="T0" fmla="*/ 458 w 916"/>
                  <a:gd name="T1" fmla="*/ 396 h 396"/>
                  <a:gd name="T2" fmla="*/ 0 w 916"/>
                  <a:gd name="T3" fmla="*/ 0 h 396"/>
                  <a:gd name="T4" fmla="*/ 458 w 916"/>
                  <a:gd name="T5" fmla="*/ 0 h 396"/>
                  <a:gd name="T6" fmla="*/ 916 w 916"/>
                  <a:gd name="T7" fmla="*/ 0 h 396"/>
                  <a:gd name="T8" fmla="*/ 458 w 916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6" h="396">
                    <a:moveTo>
                      <a:pt x="458" y="396"/>
                    </a:moveTo>
                    <a:lnTo>
                      <a:pt x="0" y="0"/>
                    </a:lnTo>
                    <a:lnTo>
                      <a:pt x="458" y="0"/>
                    </a:lnTo>
                    <a:lnTo>
                      <a:pt x="916" y="0"/>
                    </a:lnTo>
                    <a:lnTo>
                      <a:pt x="458" y="39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5" name="Freeform: Shape 41"/>
              <p:cNvSpPr/>
              <p:nvPr/>
            </p:nvSpPr>
            <p:spPr bwMode="auto">
              <a:xfrm>
                <a:off x="3147" y="3729"/>
                <a:ext cx="458" cy="396"/>
              </a:xfrm>
              <a:custGeom>
                <a:avLst/>
                <a:gdLst>
                  <a:gd name="T0" fmla="*/ 458 w 458"/>
                  <a:gd name="T1" fmla="*/ 0 h 396"/>
                  <a:gd name="T2" fmla="*/ 0 w 458"/>
                  <a:gd name="T3" fmla="*/ 396 h 396"/>
                  <a:gd name="T4" fmla="*/ 396 w 458"/>
                  <a:gd name="T5" fmla="*/ 58 h 396"/>
                  <a:gd name="T6" fmla="*/ 458 w 458"/>
                  <a:gd name="T7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8" h="396">
                    <a:moveTo>
                      <a:pt x="458" y="0"/>
                    </a:moveTo>
                    <a:lnTo>
                      <a:pt x="0" y="396"/>
                    </a:lnTo>
                    <a:lnTo>
                      <a:pt x="396" y="58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6" name="Freeform: Shape 42"/>
              <p:cNvSpPr/>
              <p:nvPr/>
            </p:nvSpPr>
            <p:spPr bwMode="auto">
              <a:xfrm>
                <a:off x="3147" y="3729"/>
                <a:ext cx="458" cy="396"/>
              </a:xfrm>
              <a:custGeom>
                <a:avLst/>
                <a:gdLst>
                  <a:gd name="T0" fmla="*/ 458 w 458"/>
                  <a:gd name="T1" fmla="*/ 0 h 396"/>
                  <a:gd name="T2" fmla="*/ 0 w 458"/>
                  <a:gd name="T3" fmla="*/ 396 h 396"/>
                  <a:gd name="T4" fmla="*/ 396 w 458"/>
                  <a:gd name="T5" fmla="*/ 58 h 396"/>
                  <a:gd name="T6" fmla="*/ 458 w 458"/>
                  <a:gd name="T7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8" h="396">
                    <a:moveTo>
                      <a:pt x="458" y="0"/>
                    </a:moveTo>
                    <a:lnTo>
                      <a:pt x="0" y="396"/>
                    </a:lnTo>
                    <a:lnTo>
                      <a:pt x="396" y="58"/>
                    </a:lnTo>
                    <a:lnTo>
                      <a:pt x="4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7" name="Freeform: Shape 43"/>
              <p:cNvSpPr/>
              <p:nvPr/>
            </p:nvSpPr>
            <p:spPr bwMode="auto">
              <a:xfrm>
                <a:off x="2916" y="2007"/>
                <a:ext cx="462" cy="1722"/>
              </a:xfrm>
              <a:custGeom>
                <a:avLst/>
                <a:gdLst>
                  <a:gd name="T0" fmla="*/ 462 w 462"/>
                  <a:gd name="T1" fmla="*/ 0 h 1722"/>
                  <a:gd name="T2" fmla="*/ 0 w 462"/>
                  <a:gd name="T3" fmla="*/ 367 h 1722"/>
                  <a:gd name="T4" fmla="*/ 0 w 462"/>
                  <a:gd name="T5" fmla="*/ 1722 h 1722"/>
                  <a:gd name="T6" fmla="*/ 231 w 462"/>
                  <a:gd name="T7" fmla="*/ 1722 h 1722"/>
                  <a:gd name="T8" fmla="*/ 462 w 462"/>
                  <a:gd name="T9" fmla="*/ 1722 h 1722"/>
                  <a:gd name="T10" fmla="*/ 462 w 462"/>
                  <a:gd name="T11" fmla="*/ 0 h 1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1722">
                    <a:moveTo>
                      <a:pt x="462" y="0"/>
                    </a:moveTo>
                    <a:lnTo>
                      <a:pt x="0" y="367"/>
                    </a:lnTo>
                    <a:lnTo>
                      <a:pt x="0" y="1722"/>
                    </a:lnTo>
                    <a:lnTo>
                      <a:pt x="231" y="1722"/>
                    </a:lnTo>
                    <a:lnTo>
                      <a:pt x="462" y="1722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8" name="Freeform: Shape 44"/>
              <p:cNvSpPr/>
              <p:nvPr/>
            </p:nvSpPr>
            <p:spPr bwMode="auto">
              <a:xfrm>
                <a:off x="2916" y="2007"/>
                <a:ext cx="462" cy="1722"/>
              </a:xfrm>
              <a:custGeom>
                <a:avLst/>
                <a:gdLst>
                  <a:gd name="T0" fmla="*/ 462 w 462"/>
                  <a:gd name="T1" fmla="*/ 0 h 1722"/>
                  <a:gd name="T2" fmla="*/ 0 w 462"/>
                  <a:gd name="T3" fmla="*/ 367 h 1722"/>
                  <a:gd name="T4" fmla="*/ 0 w 462"/>
                  <a:gd name="T5" fmla="*/ 1722 h 1722"/>
                  <a:gd name="T6" fmla="*/ 231 w 462"/>
                  <a:gd name="T7" fmla="*/ 1722 h 1722"/>
                  <a:gd name="T8" fmla="*/ 462 w 462"/>
                  <a:gd name="T9" fmla="*/ 1722 h 1722"/>
                  <a:gd name="T10" fmla="*/ 462 w 462"/>
                  <a:gd name="T11" fmla="*/ 0 h 1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1722">
                    <a:moveTo>
                      <a:pt x="462" y="0"/>
                    </a:moveTo>
                    <a:lnTo>
                      <a:pt x="0" y="367"/>
                    </a:lnTo>
                    <a:lnTo>
                      <a:pt x="0" y="1722"/>
                    </a:lnTo>
                    <a:lnTo>
                      <a:pt x="231" y="1722"/>
                    </a:lnTo>
                    <a:lnTo>
                      <a:pt x="462" y="1722"/>
                    </a:lnTo>
                    <a:lnTo>
                      <a:pt x="4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09" name="Freeform: Shape 45"/>
              <p:cNvSpPr/>
              <p:nvPr/>
            </p:nvSpPr>
            <p:spPr bwMode="auto">
              <a:xfrm>
                <a:off x="2689" y="3729"/>
                <a:ext cx="916" cy="396"/>
              </a:xfrm>
              <a:custGeom>
                <a:avLst/>
                <a:gdLst>
                  <a:gd name="T0" fmla="*/ 916 w 916"/>
                  <a:gd name="T1" fmla="*/ 0 h 396"/>
                  <a:gd name="T2" fmla="*/ 689 w 916"/>
                  <a:gd name="T3" fmla="*/ 0 h 396"/>
                  <a:gd name="T4" fmla="*/ 458 w 916"/>
                  <a:gd name="T5" fmla="*/ 0 h 396"/>
                  <a:gd name="T6" fmla="*/ 227 w 916"/>
                  <a:gd name="T7" fmla="*/ 0 h 396"/>
                  <a:gd name="T8" fmla="*/ 0 w 916"/>
                  <a:gd name="T9" fmla="*/ 0 h 396"/>
                  <a:gd name="T10" fmla="*/ 458 w 916"/>
                  <a:gd name="T11" fmla="*/ 396 h 396"/>
                  <a:gd name="T12" fmla="*/ 916 w 916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6" h="396">
                    <a:moveTo>
                      <a:pt x="916" y="0"/>
                    </a:moveTo>
                    <a:lnTo>
                      <a:pt x="689" y="0"/>
                    </a:lnTo>
                    <a:lnTo>
                      <a:pt x="458" y="0"/>
                    </a:lnTo>
                    <a:lnTo>
                      <a:pt x="227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10" name="Freeform: Shape 46"/>
              <p:cNvSpPr/>
              <p:nvPr/>
            </p:nvSpPr>
            <p:spPr bwMode="auto">
              <a:xfrm>
                <a:off x="2689" y="3729"/>
                <a:ext cx="916" cy="396"/>
              </a:xfrm>
              <a:custGeom>
                <a:avLst/>
                <a:gdLst>
                  <a:gd name="T0" fmla="*/ 916 w 916"/>
                  <a:gd name="T1" fmla="*/ 0 h 396"/>
                  <a:gd name="T2" fmla="*/ 689 w 916"/>
                  <a:gd name="T3" fmla="*/ 0 h 396"/>
                  <a:gd name="T4" fmla="*/ 458 w 916"/>
                  <a:gd name="T5" fmla="*/ 0 h 396"/>
                  <a:gd name="T6" fmla="*/ 227 w 916"/>
                  <a:gd name="T7" fmla="*/ 0 h 396"/>
                  <a:gd name="T8" fmla="*/ 0 w 916"/>
                  <a:gd name="T9" fmla="*/ 0 h 396"/>
                  <a:gd name="T10" fmla="*/ 458 w 916"/>
                  <a:gd name="T11" fmla="*/ 396 h 396"/>
                  <a:gd name="T12" fmla="*/ 916 w 916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6" h="396">
                    <a:moveTo>
                      <a:pt x="916" y="0"/>
                    </a:moveTo>
                    <a:lnTo>
                      <a:pt x="689" y="0"/>
                    </a:lnTo>
                    <a:lnTo>
                      <a:pt x="458" y="0"/>
                    </a:lnTo>
                    <a:lnTo>
                      <a:pt x="227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sp>
          <p:nvSpPr>
            <p:cNvPr id="61" name="矩形 60"/>
            <p:cNvSpPr/>
            <p:nvPr/>
          </p:nvSpPr>
          <p:spPr>
            <a:xfrm>
              <a:off x="4089715" y="2574631"/>
              <a:ext cx="2241974" cy="5440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Data Source</a:t>
              </a:r>
              <a:endParaRPr lang="zh-CN" alt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4376298" y="3788450"/>
              <a:ext cx="2241974" cy="5440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Key Features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5613334" y="3179318"/>
              <a:ext cx="2241974" cy="5440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Conducted By</a:t>
              </a:r>
              <a:endParaRPr lang="zh-CN" alt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5613333" y="4399716"/>
              <a:ext cx="2241974" cy="5440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Official Website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11" name="矩形 110"/>
          <p:cNvSpPr/>
          <p:nvPr/>
        </p:nvSpPr>
        <p:spPr>
          <a:xfrm>
            <a:off x="9081770" y="5260340"/>
            <a:ext cx="2968625" cy="82994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2000" u="sng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https://www.cdc.gov/nchs/nhanes/</a:t>
            </a:r>
            <a:endParaRPr lang="en-US" altLang="zh-CN" sz="2000" u="sng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2312670" y="1975485"/>
            <a:ext cx="2176145" cy="19380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dirty="0">
                <a:solidFill>
                  <a:schemeClr val="accent5">
                    <a:lumMod val="50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lt"/>
              </a:rPr>
              <a:t>NHANES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lt"/>
              </a:rPr>
              <a:t> (National Health and Nutrition Examination Survey)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cs typeface="Arial Regular" panose="020B0604020202090204" charset="0"/>
              <a:sym typeface="+mn-lt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2312670" y="4126230"/>
            <a:ext cx="3136265" cy="156845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>
              <a:lnSpc>
                <a:spcPct val="120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lt"/>
              </a:rPr>
              <a:t>1. Nationally representative 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cs typeface="Arial Regular" panose="020B0604020202090204" charset="0"/>
              <a:sym typeface="+mn-lt"/>
            </a:endParaRPr>
          </a:p>
          <a:p>
            <a:pPr algn="l">
              <a:lnSpc>
                <a:spcPct val="120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lt"/>
              </a:rPr>
              <a:t>2. Publicly available &amp; anonymized data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cs typeface="Arial Regular" panose="020B0604020202090204" charset="0"/>
              <a:sym typeface="+mn-lt"/>
            </a:endParaRPr>
          </a:p>
        </p:txBody>
      </p:sp>
      <p:pic>
        <p:nvPicPr>
          <p:cNvPr id="3" name="图片 2" descr="截屏2025-12-17 上午12.57.11"/>
          <p:cNvPicPr>
            <a:picLocks noChangeAspect="1"/>
          </p:cNvPicPr>
          <p:nvPr/>
        </p:nvPicPr>
        <p:blipFill>
          <a:blip r:embed="rId1"/>
          <a:srcRect b="3398"/>
          <a:stretch>
            <a:fillRect/>
          </a:stretch>
        </p:blipFill>
        <p:spPr>
          <a:xfrm>
            <a:off x="5627370" y="126365"/>
            <a:ext cx="3851275" cy="2801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580139" y="0"/>
            <a:ext cx="11904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774" y="0"/>
            <a:ext cx="6149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113560" y="2929632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43" name="矩形 42"/>
          <p:cNvSpPr/>
          <p:nvPr/>
        </p:nvSpPr>
        <p:spPr>
          <a:xfrm>
            <a:off x="0" y="1802383"/>
            <a:ext cx="1770611" cy="57465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5" name="Freeform 13"/>
          <p:cNvSpPr>
            <a:spLocks noEditPoints="1"/>
          </p:cNvSpPr>
          <p:nvPr/>
        </p:nvSpPr>
        <p:spPr bwMode="auto">
          <a:xfrm>
            <a:off x="185704" y="2527443"/>
            <a:ext cx="292026" cy="274029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6" name="Freeform 12"/>
          <p:cNvSpPr>
            <a:spLocks noEditPoints="1"/>
          </p:cNvSpPr>
          <p:nvPr/>
        </p:nvSpPr>
        <p:spPr bwMode="auto">
          <a:xfrm>
            <a:off x="141001" y="3067377"/>
            <a:ext cx="336729" cy="324815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7" name="Freeform 11"/>
          <p:cNvSpPr>
            <a:spLocks noEditPoints="1"/>
          </p:cNvSpPr>
          <p:nvPr/>
        </p:nvSpPr>
        <p:spPr bwMode="auto">
          <a:xfrm>
            <a:off x="163523" y="3696687"/>
            <a:ext cx="296922" cy="245847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71" name="直接连接符 70"/>
          <p:cNvCxnSpPr/>
          <p:nvPr/>
        </p:nvCxnSpPr>
        <p:spPr>
          <a:xfrm flipH="1">
            <a:off x="113560" y="3507724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2" name="直接连接符 71"/>
          <p:cNvCxnSpPr/>
          <p:nvPr/>
        </p:nvCxnSpPr>
        <p:spPr>
          <a:xfrm flipH="1">
            <a:off x="113560" y="4085816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3" name="直接连接符 72"/>
          <p:cNvCxnSpPr/>
          <p:nvPr/>
        </p:nvCxnSpPr>
        <p:spPr>
          <a:xfrm flipH="1">
            <a:off x="113560" y="4663908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74" name="Freeform 28"/>
          <p:cNvSpPr>
            <a:spLocks noEditPoints="1"/>
          </p:cNvSpPr>
          <p:nvPr/>
        </p:nvSpPr>
        <p:spPr bwMode="auto">
          <a:xfrm>
            <a:off x="141008" y="4240315"/>
            <a:ext cx="319438" cy="270040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7" name="Freeform 27"/>
          <p:cNvSpPr>
            <a:spLocks noEditPoints="1"/>
          </p:cNvSpPr>
          <p:nvPr/>
        </p:nvSpPr>
        <p:spPr bwMode="auto">
          <a:xfrm>
            <a:off x="184072" y="1986373"/>
            <a:ext cx="265566" cy="284891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675755" y="985520"/>
            <a:ext cx="5184140" cy="263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DEMO_J</a:t>
            </a:r>
            <a:r>
              <a:rPr lang="en-US" altLang="zh-CN" dirty="0">
                <a:solidFill>
                  <a:schemeClr val="tx1"/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 : Demographic information</a:t>
            </a:r>
            <a:endParaRPr lang="en-US" altLang="zh-CN" dirty="0">
              <a:solidFill>
                <a:schemeClr val="tx1"/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</a:endParaRPr>
          </a:p>
          <a:p>
            <a:pPr algn="just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DPQ_J</a:t>
            </a:r>
            <a:r>
              <a:rPr lang="en-US" altLang="zh-CN" dirty="0">
                <a:solidFill>
                  <a:schemeClr val="tx1"/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:the PHQ-9 depression scale questionnaire response</a:t>
            </a:r>
            <a:endParaRPr lang="en-US" altLang="zh-CN" dirty="0">
              <a:solidFill>
                <a:schemeClr val="tx1"/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</a:endParaRPr>
          </a:p>
          <a:p>
            <a:pPr algn="just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ALQ_J</a:t>
            </a:r>
            <a:r>
              <a:rPr lang="en-US" altLang="zh-CN" dirty="0">
                <a:solidFill>
                  <a:schemeClr val="tx1"/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 : the alcohol consumption behavior questionnaire response</a:t>
            </a:r>
            <a:endParaRPr lang="en-US" altLang="zh-CN" dirty="0">
              <a:solidFill>
                <a:schemeClr val="tx1"/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</a:endParaRPr>
          </a:p>
          <a:p>
            <a:pPr algn="just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SMQ_J </a:t>
            </a:r>
            <a:r>
              <a:rPr lang="en-US" altLang="zh-CN" dirty="0">
                <a:solidFill>
                  <a:schemeClr val="tx1"/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: the smoking behavior questionnaire response</a:t>
            </a:r>
            <a:endParaRPr lang="en-US" altLang="zh-CN" dirty="0">
              <a:solidFill>
                <a:schemeClr val="tx1"/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</a:endParaRPr>
          </a:p>
          <a:p>
            <a:pPr algn="just"/>
            <a:r>
              <a:rPr lang="en-US" altLang="zh-CN" dirty="0">
                <a:solidFill>
                  <a:schemeClr val="tx1"/>
                </a:solidFill>
                <a:latin typeface="Arial Regular" panose="020B0604020202090204" charset="0"/>
                <a:ea typeface="汉仪铁线黑-65简" panose="00020600040101010101" charset="-122"/>
                <a:cs typeface="Arial Regular" panose="020B0604020202090204" charset="0"/>
              </a:rPr>
              <a:t>All from the NHANES survey interview.</a:t>
            </a:r>
            <a:endParaRPr lang="en-US" altLang="zh-CN" dirty="0">
              <a:solidFill>
                <a:schemeClr val="tx1"/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chemeClr val="tx1"/>
              </a:solidFill>
              <a:latin typeface="Arial Regular" panose="020B0604020202090204" charset="0"/>
              <a:ea typeface="汉仪铁线黑-65简" panose="00020600040101010101" charset="-122"/>
              <a:cs typeface="Arial Regular" panose="020B0604020202090204" charset="0"/>
              <a:sym typeface="+mn-lt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356485" y="683260"/>
            <a:ext cx="1723390" cy="43561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 dirty="0">
                <a:solidFill>
                  <a:srgbClr val="34495E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Data Files Used</a:t>
            </a:r>
            <a:endParaRPr lang="en-US" altLang="zh-CN" sz="2800" b="1" dirty="0">
              <a:solidFill>
                <a:srgbClr val="34495E"/>
              </a:solidFill>
              <a:latin typeface="Arial Bold" panose="020B0604020202090204" charset="0"/>
              <a:cs typeface="Arial Bold" panose="020B0604020202090204" charset="0"/>
              <a:sym typeface="+mn-lt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>
            <a:off x="1780135" y="506399"/>
            <a:ext cx="10080014" cy="55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/>
          <p:cNvSpPr/>
          <p:nvPr/>
        </p:nvSpPr>
        <p:spPr>
          <a:xfrm>
            <a:off x="9478645" y="187325"/>
            <a:ext cx="2381250" cy="3175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4" name="文本框 9"/>
          <p:cNvSpPr txBox="1"/>
          <p:nvPr/>
        </p:nvSpPr>
        <p:spPr>
          <a:xfrm>
            <a:off x="9493250" y="191770"/>
            <a:ext cx="2926080" cy="31432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l"/>
            <a:r>
              <a:rPr lang="en-US" altLang="zh-CN" sz="1600" b="1" dirty="0">
                <a:solidFill>
                  <a:schemeClr val="bg1"/>
                </a:solidFill>
                <a:latin typeface="Arial Bold" panose="020B0604020202090204" charset="0"/>
                <a:ea typeface="汉仪铁线黑-65简" panose="00020600040101010101" charset="-122"/>
                <a:cs typeface="Arial Bold" panose="020B0604020202090204" charset="0"/>
              </a:rPr>
              <a:t>Acquisition &amp; Formats</a:t>
            </a:r>
            <a:endParaRPr lang="en-US" altLang="zh-CN" sz="1600" b="1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</a:endParaRPr>
          </a:p>
        </p:txBody>
      </p:sp>
      <p:pic>
        <p:nvPicPr>
          <p:cNvPr id="2" name="图片 1" descr="截屏2025-12-17 上午1.03.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250" y="1295400"/>
            <a:ext cx="4876800" cy="1397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70380" y="300196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800" b="1" dirty="0">
                <a:solidFill>
                  <a:srgbClr val="34495E"/>
                </a:solidFill>
                <a:latin typeface="Arial Bold" panose="020B0604020202090204" charset="0"/>
                <a:cs typeface="Arial Bold" panose="020B0604020202090204" charset="0"/>
              </a:rPr>
              <a:t>Data Format and Reading</a:t>
            </a:r>
            <a:endParaRPr lang="en-US" altLang="zh-CN" sz="2800" b="1" dirty="0">
              <a:solidFill>
                <a:srgbClr val="34495E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5" name="图片 4" descr="截屏2025-12-17 上午1.18.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90" y="3705225"/>
            <a:ext cx="7037070" cy="15976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73250" y="5483860"/>
            <a:ext cx="5183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 Regular" panose="020B0604020202090204" charset="0"/>
                <a:cs typeface="Arial Regular" panose="020B0604020202090204" charset="0"/>
              </a:rPr>
              <a:t>NHANES data is published in XPT format .</a:t>
            </a:r>
            <a:endParaRPr lang="en-US" altLang="zh-CN">
              <a:latin typeface="Arial Regular" panose="020B0604020202090204" charset="0"/>
              <a:cs typeface="Arial Regular" panose="020B0604020202090204" charset="0"/>
            </a:endParaRPr>
          </a:p>
          <a:p>
            <a:r>
              <a:rPr lang="en-US" altLang="zh-CN">
                <a:latin typeface="Arial Regular" panose="020B0604020202090204" charset="0"/>
                <a:cs typeface="Arial Regular" panose="020B0604020202090204" charset="0"/>
              </a:rPr>
              <a:t>Be imported using the </a:t>
            </a:r>
            <a:r>
              <a:rPr lang="en-US" altLang="zh-CN" u="sng">
                <a:solidFill>
                  <a:srgbClr val="002060"/>
                </a:solidFill>
                <a:latin typeface="Arial Regular" panose="020B0604020202090204" charset="0"/>
                <a:cs typeface="Arial Regular" panose="020B0604020202090204" charset="0"/>
              </a:rPr>
              <a:t>read_xpt()</a:t>
            </a:r>
            <a:r>
              <a:rPr lang="en-US" altLang="zh-CN">
                <a:latin typeface="Arial Regular" panose="020B0604020202090204" charset="0"/>
                <a:cs typeface="Arial Regular" panose="020B0604020202090204" charset="0"/>
              </a:rPr>
              <a:t> function in R.</a:t>
            </a:r>
            <a:endParaRPr lang="en-US" altLang="zh-CN">
              <a:latin typeface="Arial Regular" panose="020B0604020202090204" charset="0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580139" y="0"/>
            <a:ext cx="11904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774" y="0"/>
            <a:ext cx="6149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113560" y="2929632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43" name="矩形 42"/>
          <p:cNvSpPr/>
          <p:nvPr/>
        </p:nvSpPr>
        <p:spPr>
          <a:xfrm>
            <a:off x="0" y="1802383"/>
            <a:ext cx="1770611" cy="57465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5" name="Freeform 13"/>
          <p:cNvSpPr>
            <a:spLocks noEditPoints="1"/>
          </p:cNvSpPr>
          <p:nvPr/>
        </p:nvSpPr>
        <p:spPr bwMode="auto">
          <a:xfrm>
            <a:off x="185704" y="2527443"/>
            <a:ext cx="292026" cy="274029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6" name="Freeform 12"/>
          <p:cNvSpPr>
            <a:spLocks noEditPoints="1"/>
          </p:cNvSpPr>
          <p:nvPr/>
        </p:nvSpPr>
        <p:spPr bwMode="auto">
          <a:xfrm>
            <a:off x="141001" y="3067377"/>
            <a:ext cx="336729" cy="324815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7" name="Freeform 11"/>
          <p:cNvSpPr>
            <a:spLocks noEditPoints="1"/>
          </p:cNvSpPr>
          <p:nvPr/>
        </p:nvSpPr>
        <p:spPr bwMode="auto">
          <a:xfrm>
            <a:off x="163523" y="3696687"/>
            <a:ext cx="296922" cy="245847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71" name="直接连接符 70"/>
          <p:cNvCxnSpPr/>
          <p:nvPr/>
        </p:nvCxnSpPr>
        <p:spPr>
          <a:xfrm flipH="1">
            <a:off x="113560" y="3507724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2" name="直接连接符 71"/>
          <p:cNvCxnSpPr/>
          <p:nvPr/>
        </p:nvCxnSpPr>
        <p:spPr>
          <a:xfrm flipH="1">
            <a:off x="113560" y="4085816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3" name="直接连接符 72"/>
          <p:cNvCxnSpPr/>
          <p:nvPr/>
        </p:nvCxnSpPr>
        <p:spPr>
          <a:xfrm flipH="1">
            <a:off x="113560" y="4663908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74" name="Freeform 28"/>
          <p:cNvSpPr>
            <a:spLocks noEditPoints="1"/>
          </p:cNvSpPr>
          <p:nvPr/>
        </p:nvSpPr>
        <p:spPr bwMode="auto">
          <a:xfrm>
            <a:off x="141008" y="4240315"/>
            <a:ext cx="319438" cy="270040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7" name="Freeform 27"/>
          <p:cNvSpPr>
            <a:spLocks noEditPoints="1"/>
          </p:cNvSpPr>
          <p:nvPr/>
        </p:nvSpPr>
        <p:spPr bwMode="auto">
          <a:xfrm>
            <a:off x="184072" y="1986373"/>
            <a:ext cx="265566" cy="284891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1770610" y="505764"/>
            <a:ext cx="10080014" cy="55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10088880" y="187325"/>
            <a:ext cx="1771015" cy="32893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4" name="文本框 9"/>
          <p:cNvSpPr txBox="1"/>
          <p:nvPr/>
        </p:nvSpPr>
        <p:spPr>
          <a:xfrm>
            <a:off x="10182247" y="223615"/>
            <a:ext cx="1584176" cy="2838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en-US" altLang="zh-CN" sz="1400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Data Preparation</a:t>
            </a:r>
            <a:endParaRPr lang="en-US" altLang="zh-CN" sz="1400" b="1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890630" y="626576"/>
            <a:ext cx="4981575" cy="520700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34495E"/>
                </a:solidFill>
                <a:latin typeface="Arial Bold" panose="020B0604020202090204" charset="0"/>
                <a:cs typeface="Arial Bold" panose="020B0604020202090204" charset="0"/>
              </a:rPr>
              <a:t>Data Cleaning &amp; Preparation</a:t>
            </a:r>
            <a:endParaRPr lang="en-US" altLang="zh-CN" b="1" dirty="0">
              <a:solidFill>
                <a:srgbClr val="1F4E79"/>
              </a:solidFill>
              <a:latin typeface="汉仪铁线黑-65简" panose="00020600040101010101" charset="-122"/>
              <a:ea typeface="汉仪铁线黑-65简" panose="00020600040101010101" charset="-122"/>
            </a:endParaRPr>
          </a:p>
        </p:txBody>
      </p:sp>
      <p:sp>
        <p:nvSpPr>
          <p:cNvPr id="121" name="Freeform 12"/>
          <p:cNvSpPr/>
          <p:nvPr/>
        </p:nvSpPr>
        <p:spPr bwMode="auto">
          <a:xfrm>
            <a:off x="2235072" y="4809692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202A36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2" name="Freeform 12"/>
          <p:cNvSpPr/>
          <p:nvPr/>
        </p:nvSpPr>
        <p:spPr bwMode="auto">
          <a:xfrm flipH="1" flipV="1">
            <a:off x="10876032" y="5786948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202A36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3" name="TextBox 35"/>
          <p:cNvSpPr txBox="1"/>
          <p:nvPr/>
        </p:nvSpPr>
        <p:spPr>
          <a:xfrm>
            <a:off x="2595245" y="5062855"/>
            <a:ext cx="8545195" cy="1456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This step creates the final analysis-ready datase. 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Using </a:t>
            </a:r>
            <a:r>
              <a:rPr lang="en-US" altLang="zh-CN" sz="2000" u="sng" dirty="0">
                <a:solidFill>
                  <a:schemeClr val="accent5">
                    <a:lumMod val="7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transmute()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, keep only the variables required for statistical testing. 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Then, </a:t>
            </a:r>
            <a:r>
              <a:rPr lang="en-US" altLang="zh-CN" sz="2000" u="sng" dirty="0">
                <a:solidFill>
                  <a:schemeClr val="accent5">
                    <a:lumMod val="7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filter()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 removes observations with missing values in key analysis variables.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pPr algn="ctr"/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>
              <a:buNone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图片 1" descr="截屏2025-12-17 上午1.32.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125" y="1260475"/>
            <a:ext cx="8860155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1" y="2493690"/>
            <a:ext cx="12190414" cy="2304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 rot="5400000">
            <a:off x="893108" y="2158707"/>
            <a:ext cx="3083386" cy="2732788"/>
            <a:chOff x="3385822" y="2342962"/>
            <a:chExt cx="2463822" cy="2183669"/>
          </a:xfrm>
        </p:grpSpPr>
        <p:sp>
          <p:nvSpPr>
            <p:cNvPr id="17" name="Freeform 5"/>
            <p:cNvSpPr/>
            <p:nvPr/>
          </p:nvSpPr>
          <p:spPr bwMode="auto">
            <a:xfrm rot="10800000">
              <a:off x="3385822" y="2342962"/>
              <a:ext cx="2463822" cy="2183669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355600" dist="88900" dir="2700000" algn="tl" rotWithShape="0">
                <a:prstClr val="black">
                  <a:alpha val="28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8" name="Freeform 5"/>
            <p:cNvSpPr/>
            <p:nvPr/>
          </p:nvSpPr>
          <p:spPr bwMode="auto">
            <a:xfrm rot="10800000">
              <a:off x="3589408" y="2523401"/>
              <a:ext cx="2056648" cy="18227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tx2"/>
            </a:solidFill>
            <a:ln w="25400">
              <a:noFill/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 dirty="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4552950" y="3141345"/>
            <a:ext cx="740473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5400" b="1" dirty="0">
                <a:solidFill>
                  <a:srgbClr val="313D5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Statistical Method</a:t>
            </a:r>
            <a:endParaRPr lang="en-US" altLang="zh-CN" sz="5400" b="1" dirty="0">
              <a:solidFill>
                <a:srgbClr val="313D51"/>
              </a:solidFill>
              <a:latin typeface="Arial Bold" panose="020B0604020202090204" charset="0"/>
              <a:cs typeface="Arial Bold" panose="020B0604020202090204" charset="0"/>
              <a:sym typeface="+mn-lt"/>
            </a:endParaRPr>
          </a:p>
        </p:txBody>
      </p:sp>
      <p:sp>
        <p:nvSpPr>
          <p:cNvPr id="21" name="文本框 32"/>
          <p:cNvSpPr txBox="1"/>
          <p:nvPr/>
        </p:nvSpPr>
        <p:spPr>
          <a:xfrm>
            <a:off x="929335" y="2633265"/>
            <a:ext cx="290895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dirty="0">
                <a:solidFill>
                  <a:schemeClr val="bg1"/>
                </a:solidFill>
                <a:latin typeface="汉仪铁线黑-65简" panose="00020600040101010101" charset="-122"/>
                <a:ea typeface="汉仪铁线黑-65简" panose="00020600040101010101" charset="-122"/>
                <a:cs typeface="+mn-ea"/>
                <a:sym typeface="+mn-lt"/>
              </a:rPr>
              <a:t>03</a:t>
            </a:r>
            <a:endParaRPr lang="zh-CN" altLang="en-US" sz="9600" dirty="0">
              <a:solidFill>
                <a:schemeClr val="bg1"/>
              </a:solidFill>
              <a:latin typeface="汉仪铁线黑-65简" panose="00020600040101010101" charset="-122"/>
              <a:ea typeface="汉仪铁线黑-65简" panose="0002060004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80139" y="0"/>
            <a:ext cx="11904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774" y="0"/>
            <a:ext cx="6149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1" y="3518164"/>
            <a:ext cx="1770610" cy="57465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113560" y="2929632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55" name="Freeform 13"/>
          <p:cNvSpPr>
            <a:spLocks noEditPoints="1"/>
          </p:cNvSpPr>
          <p:nvPr/>
        </p:nvSpPr>
        <p:spPr bwMode="auto">
          <a:xfrm>
            <a:off x="185704" y="2527443"/>
            <a:ext cx="292026" cy="274029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6" name="Freeform 12"/>
          <p:cNvSpPr>
            <a:spLocks noEditPoints="1"/>
          </p:cNvSpPr>
          <p:nvPr/>
        </p:nvSpPr>
        <p:spPr bwMode="auto">
          <a:xfrm>
            <a:off x="141001" y="3067377"/>
            <a:ext cx="336729" cy="324815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7" name="Freeform 11"/>
          <p:cNvSpPr>
            <a:spLocks noEditPoints="1"/>
          </p:cNvSpPr>
          <p:nvPr/>
        </p:nvSpPr>
        <p:spPr bwMode="auto">
          <a:xfrm>
            <a:off x="163523" y="3696687"/>
            <a:ext cx="296922" cy="245847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73" name="直接连接符 72"/>
          <p:cNvCxnSpPr/>
          <p:nvPr/>
        </p:nvCxnSpPr>
        <p:spPr>
          <a:xfrm flipH="1">
            <a:off x="113560" y="4663908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74" name="Freeform 28"/>
          <p:cNvSpPr>
            <a:spLocks noEditPoints="1"/>
          </p:cNvSpPr>
          <p:nvPr/>
        </p:nvSpPr>
        <p:spPr bwMode="auto">
          <a:xfrm>
            <a:off x="141008" y="4240315"/>
            <a:ext cx="319438" cy="270040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7" name="Freeform 27"/>
          <p:cNvSpPr>
            <a:spLocks noEditPoints="1"/>
          </p:cNvSpPr>
          <p:nvPr/>
        </p:nvSpPr>
        <p:spPr bwMode="auto">
          <a:xfrm>
            <a:off x="184072" y="1975423"/>
            <a:ext cx="265566" cy="284891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113560" y="2401544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20" name="直接连接符 19"/>
          <p:cNvCxnSpPr/>
          <p:nvPr/>
        </p:nvCxnSpPr>
        <p:spPr>
          <a:xfrm>
            <a:off x="1770610" y="505764"/>
            <a:ext cx="10080014" cy="55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0064115" y="187325"/>
            <a:ext cx="1795780" cy="301625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" name="文本框 9"/>
          <p:cNvSpPr txBox="1"/>
          <p:nvPr/>
        </p:nvSpPr>
        <p:spPr>
          <a:xfrm>
            <a:off x="10169547" y="189960"/>
            <a:ext cx="1584176" cy="2838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en-US" altLang="zh-CN" sz="1400" b="1" dirty="0">
                <a:solidFill>
                  <a:schemeClr val="bg1"/>
                </a:solidFill>
                <a:cs typeface="+mn-ea"/>
                <a:sym typeface="+mn-lt"/>
              </a:rPr>
              <a:t>Statistical Method</a:t>
            </a:r>
            <a:endParaRPr lang="en-US" altLang="zh-CN" sz="1400" b="1" dirty="0">
              <a:solidFill>
                <a:schemeClr val="bg1"/>
              </a:solidFill>
              <a:latin typeface="汉仪铁线黑-65简" panose="00020600040101010101" charset="-122"/>
              <a:ea typeface="汉仪铁线黑-65简" panose="00020600040101010101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42160" y="1150620"/>
            <a:ext cx="9925050" cy="4600575"/>
            <a:chOff x="2266800" y="1295228"/>
            <a:chExt cx="9925200" cy="4661600"/>
          </a:xfrm>
        </p:grpSpPr>
        <p:sp>
          <p:nvSpPr>
            <p:cNvPr id="23" name="TextBox 30"/>
            <p:cNvSpPr txBox="1"/>
            <p:nvPr/>
          </p:nvSpPr>
          <p:spPr>
            <a:xfrm>
              <a:off x="2266800" y="1295228"/>
              <a:ext cx="9925200" cy="558000"/>
            </a:xfrm>
            <a:prstGeom prst="rect">
              <a:avLst/>
            </a:prstGeom>
            <a:solidFill>
              <a:srgbClr val="44546A"/>
            </a:solidFill>
          </p:spPr>
          <p:txBody>
            <a:bodyPr wrap="square" lIns="396000" tIns="0" rIns="0" bIns="0" rtlCol="0" anchor="ctr">
              <a:noAutofit/>
            </a:bodyPr>
            <a:lstStyle>
              <a:defPPr>
                <a:defRPr lang="zh-CN"/>
              </a:defPPr>
              <a:lvl1pPr>
                <a:defRPr sz="2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cs typeface="+mn-ea"/>
                  <a:sym typeface="+mn-lt"/>
                </a:rPr>
                <a:t>Statistical Method </a:t>
              </a:r>
              <a:r>
                <a:rPr lang="en-US" altLang="zh-CN" dirty="0">
                  <a:latin typeface="+mn-lt"/>
                  <a:ea typeface="+mn-ea"/>
                  <a:cs typeface="+mn-ea"/>
                  <a:sym typeface="+mn-lt"/>
                </a:rPr>
                <a:t>Lists</a:t>
              </a:r>
              <a:endParaRPr lang="en-US" altLang="zh-CN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Rectangle 57"/>
            <p:cNvSpPr/>
            <p:nvPr/>
          </p:nvSpPr>
          <p:spPr>
            <a:xfrm>
              <a:off x="3081129" y="2290924"/>
              <a:ext cx="7461947" cy="3783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cs typeface="+mn-ea"/>
                  <a:sym typeface="+mn-lt"/>
                </a:rPr>
                <a:t>Shapiro normality test</a:t>
              </a:r>
              <a:endParaRPr lang="en-US" altLang="zh-CN" sz="24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3176129" y="2848926"/>
              <a:ext cx="9000000" cy="0"/>
            </a:xfrm>
            <a:prstGeom prst="line">
              <a:avLst/>
            </a:prstGeom>
            <a:ln w="6350"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2271129" y="2180362"/>
              <a:ext cx="540000" cy="540000"/>
            </a:xfrm>
            <a:prstGeom prst="ellipse">
              <a:avLst/>
            </a:prstGeom>
            <a:solidFill>
              <a:srgbClr val="34495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28" name="Rectangle 57"/>
            <p:cNvSpPr/>
            <p:nvPr/>
          </p:nvSpPr>
          <p:spPr>
            <a:xfrm>
              <a:off x="3081129" y="3067688"/>
              <a:ext cx="7461947" cy="3783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cs typeface="+mn-ea"/>
                  <a:sym typeface="+mn-lt"/>
                </a:rPr>
                <a:t>One-sample t-test</a:t>
              </a:r>
              <a:endParaRPr lang="en-US" altLang="zh-CN" sz="24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3176129" y="3625002"/>
              <a:ext cx="9000000" cy="0"/>
            </a:xfrm>
            <a:prstGeom prst="line">
              <a:avLst/>
            </a:prstGeom>
            <a:ln w="6350"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2271129" y="2956439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31" name="Rectangle 57"/>
            <p:cNvSpPr/>
            <p:nvPr/>
          </p:nvSpPr>
          <p:spPr>
            <a:xfrm>
              <a:off x="3081129" y="3843764"/>
              <a:ext cx="7461947" cy="3783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cs typeface="+mn-ea"/>
                  <a:sym typeface="+mn-lt"/>
                </a:rPr>
                <a:t>Two-sample t-test</a:t>
              </a:r>
              <a:endParaRPr lang="zh-CN" altLang="en-US" sz="24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3176129" y="4401078"/>
              <a:ext cx="9000000" cy="0"/>
            </a:xfrm>
            <a:prstGeom prst="line">
              <a:avLst/>
            </a:prstGeom>
            <a:ln w="6350"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/>
          </p:nvSpPr>
          <p:spPr>
            <a:xfrm>
              <a:off x="2271129" y="3732514"/>
              <a:ext cx="540000" cy="540000"/>
            </a:xfrm>
            <a:prstGeom prst="ellipse">
              <a:avLst/>
            </a:prstGeom>
            <a:solidFill>
              <a:srgbClr val="34495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34" name="Rectangle 57"/>
            <p:cNvSpPr/>
            <p:nvPr/>
          </p:nvSpPr>
          <p:spPr>
            <a:xfrm>
              <a:off x="3081129" y="4623438"/>
              <a:ext cx="7461947" cy="3783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cs typeface="+mn-ea"/>
                  <a:sym typeface="+mn-lt"/>
                </a:rPr>
                <a:t>One-way ANOVA + TukeyHSD + boxplot</a:t>
              </a:r>
              <a:endParaRPr lang="en-US" altLang="zh-CN" sz="24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3176129" y="5180752"/>
              <a:ext cx="9000000" cy="0"/>
            </a:xfrm>
            <a:prstGeom prst="line">
              <a:avLst/>
            </a:prstGeom>
            <a:ln w="6350"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椭圆 35"/>
            <p:cNvSpPr/>
            <p:nvPr/>
          </p:nvSpPr>
          <p:spPr>
            <a:xfrm>
              <a:off x="2271129" y="4512189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04</a:t>
              </a:r>
              <a:endParaRPr lang="zh-CN" altLang="en-US" sz="20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37" name="Rectangle 57"/>
            <p:cNvSpPr/>
            <p:nvPr/>
          </p:nvSpPr>
          <p:spPr>
            <a:xfrm>
              <a:off x="3081129" y="5399514"/>
              <a:ext cx="7461947" cy="3783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cs typeface="+mn-ea"/>
                  <a:sym typeface="+mn-lt"/>
                </a:rPr>
                <a:t>Correlation + CI (Fisher z)</a:t>
              </a:r>
              <a:endParaRPr lang="en-US" altLang="zh-CN" sz="2400" dirty="0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3176129" y="5956828"/>
              <a:ext cx="9000000" cy="0"/>
            </a:xfrm>
            <a:prstGeom prst="line">
              <a:avLst/>
            </a:prstGeom>
            <a:ln w="6350"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椭圆 38"/>
            <p:cNvSpPr/>
            <p:nvPr/>
          </p:nvSpPr>
          <p:spPr>
            <a:xfrm>
              <a:off x="2271129" y="5288264"/>
              <a:ext cx="540000" cy="540000"/>
            </a:xfrm>
            <a:prstGeom prst="ellipse">
              <a:avLst/>
            </a:prstGeom>
            <a:solidFill>
              <a:srgbClr val="44546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3176129" y="2065154"/>
              <a:ext cx="9000000" cy="0"/>
            </a:xfrm>
            <a:prstGeom prst="line">
              <a:avLst/>
            </a:prstGeom>
            <a:ln w="6350"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2856230" y="5794375"/>
            <a:ext cx="829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cs typeface="+mn-ea"/>
              </a:rPr>
              <a:t>Simple linear regression + ANOVA table + prediction interva</a:t>
            </a:r>
            <a:endParaRPr lang="en-US" altLang="zh-CN"/>
          </a:p>
        </p:txBody>
      </p:sp>
      <p:cxnSp>
        <p:nvCxnSpPr>
          <p:cNvPr id="4" name="直接连接符 3"/>
          <p:cNvCxnSpPr/>
          <p:nvPr/>
        </p:nvCxnSpPr>
        <p:spPr>
          <a:xfrm>
            <a:off x="2850510" y="6426094"/>
            <a:ext cx="8999864" cy="0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2066174" y="5768823"/>
            <a:ext cx="539992" cy="53293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2000" dirty="0">
                <a:solidFill>
                  <a:schemeClr val="bg1"/>
                </a:solidFill>
                <a:effectLst/>
                <a:cs typeface="+mn-ea"/>
                <a:sym typeface="+mn-lt"/>
              </a:rPr>
              <a:t>06</a:t>
            </a:r>
            <a:endParaRPr lang="zh-CN" altLang="en-US" sz="200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80139" y="0"/>
            <a:ext cx="11904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774" y="0"/>
            <a:ext cx="6149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1" y="2932537"/>
            <a:ext cx="1770610" cy="57465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5" name="Freeform 13"/>
          <p:cNvSpPr>
            <a:spLocks noEditPoints="1"/>
          </p:cNvSpPr>
          <p:nvPr/>
        </p:nvSpPr>
        <p:spPr bwMode="auto">
          <a:xfrm>
            <a:off x="185704" y="2527443"/>
            <a:ext cx="292026" cy="274029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6" name="Freeform 12"/>
          <p:cNvSpPr>
            <a:spLocks noEditPoints="1"/>
          </p:cNvSpPr>
          <p:nvPr/>
        </p:nvSpPr>
        <p:spPr bwMode="auto">
          <a:xfrm>
            <a:off x="139176" y="3067377"/>
            <a:ext cx="336729" cy="324815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7" name="Freeform 11"/>
          <p:cNvSpPr>
            <a:spLocks noEditPoints="1"/>
          </p:cNvSpPr>
          <p:nvPr/>
        </p:nvSpPr>
        <p:spPr bwMode="auto">
          <a:xfrm>
            <a:off x="163523" y="3696687"/>
            <a:ext cx="296922" cy="245847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72" name="直接连接符 71"/>
          <p:cNvCxnSpPr/>
          <p:nvPr/>
        </p:nvCxnSpPr>
        <p:spPr>
          <a:xfrm flipH="1">
            <a:off x="113560" y="4085816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3" name="直接连接符 72"/>
          <p:cNvCxnSpPr/>
          <p:nvPr/>
        </p:nvCxnSpPr>
        <p:spPr>
          <a:xfrm flipH="1">
            <a:off x="113560" y="4663908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74" name="Freeform 28"/>
          <p:cNvSpPr>
            <a:spLocks noEditPoints="1"/>
          </p:cNvSpPr>
          <p:nvPr/>
        </p:nvSpPr>
        <p:spPr bwMode="auto">
          <a:xfrm>
            <a:off x="141008" y="4240315"/>
            <a:ext cx="319438" cy="270040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7" name="Freeform 27"/>
          <p:cNvSpPr>
            <a:spLocks noEditPoints="1"/>
          </p:cNvSpPr>
          <p:nvPr/>
        </p:nvSpPr>
        <p:spPr bwMode="auto">
          <a:xfrm>
            <a:off x="184072" y="1975423"/>
            <a:ext cx="265566" cy="284891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H="1">
            <a:off x="113560" y="2366107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1846810" y="505129"/>
            <a:ext cx="10080014" cy="55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9812655" y="187325"/>
            <a:ext cx="2047240" cy="32893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9"/>
          <p:cNvSpPr txBox="1"/>
          <p:nvPr/>
        </p:nvSpPr>
        <p:spPr>
          <a:xfrm>
            <a:off x="9687560" y="221615"/>
            <a:ext cx="2172335" cy="2838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en-US" altLang="zh-CN" sz="1400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Statistical Method</a:t>
            </a:r>
            <a:endParaRPr lang="en-US" altLang="zh-CN" sz="1400" b="1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+mn-lt"/>
            </a:endParaRPr>
          </a:p>
        </p:txBody>
      </p:sp>
      <p:sp>
        <p:nvSpPr>
          <p:cNvPr id="28" name="TextBox 11"/>
          <p:cNvSpPr txBox="1"/>
          <p:nvPr/>
        </p:nvSpPr>
        <p:spPr>
          <a:xfrm>
            <a:off x="3373227" y="1419589"/>
            <a:ext cx="301355" cy="48209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en-US" altLang="zh-CN" sz="2535" b="1" dirty="0">
                <a:solidFill>
                  <a:srgbClr val="F8F8F8"/>
                </a:solidFill>
                <a:latin typeface="汉仪铁线黑-65简" panose="00020600040101010101" charset="-122"/>
                <a:ea typeface="汉仪铁线黑-65简" panose="00020600040101010101" charset="-122"/>
              </a:rPr>
              <a:t>2</a:t>
            </a:r>
            <a:endParaRPr lang="zh-CN" altLang="en-US" sz="2535" b="1" dirty="0">
              <a:solidFill>
                <a:srgbClr val="F8F8F8"/>
              </a:solidFill>
              <a:latin typeface="汉仪铁线黑-65简" panose="00020600040101010101" charset="-122"/>
              <a:ea typeface="汉仪铁线黑-65简" panose="00020600040101010101" charset="-122"/>
            </a:endParaRPr>
          </a:p>
        </p:txBody>
      </p:sp>
      <p:sp>
        <p:nvSpPr>
          <p:cNvPr id="32" name="TextBox 15"/>
          <p:cNvSpPr txBox="1"/>
          <p:nvPr/>
        </p:nvSpPr>
        <p:spPr>
          <a:xfrm>
            <a:off x="2390775" y="2493010"/>
            <a:ext cx="3185160" cy="574675"/>
          </a:xfrm>
          <a:prstGeom prst="rect">
            <a:avLst/>
          </a:prstGeom>
          <a:noFill/>
        </p:spPr>
        <p:txBody>
          <a:bodyPr wrap="square" lIns="81589" tIns="40794" rIns="81589" bIns="40794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One-sample t-test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grpSp>
        <p:nvGrpSpPr>
          <p:cNvPr id="33" name="组合 16"/>
          <p:cNvGrpSpPr/>
          <p:nvPr/>
        </p:nvGrpSpPr>
        <p:grpSpPr>
          <a:xfrm>
            <a:off x="1857535" y="643780"/>
            <a:ext cx="534958" cy="530674"/>
            <a:chOff x="6409426" y="1173624"/>
            <a:chExt cx="962086" cy="962084"/>
          </a:xfrm>
          <a:solidFill>
            <a:srgbClr val="1F4E79"/>
          </a:solidFill>
        </p:grpSpPr>
        <p:sp>
          <p:nvSpPr>
            <p:cNvPr id="34" name="椭圆 33"/>
            <p:cNvSpPr/>
            <p:nvPr/>
          </p:nvSpPr>
          <p:spPr bwMode="auto">
            <a:xfrm>
              <a:off x="6409426" y="1173624"/>
              <a:ext cx="962086" cy="962084"/>
            </a:xfrm>
            <a:prstGeom prst="ellipse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/>
            <a:p>
              <a:pPr algn="ctr"/>
              <a:endParaRPr lang="zh-CN" altLang="en-US" sz="1600" b="1">
                <a:solidFill>
                  <a:srgbClr val="314865"/>
                </a:solidFill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  <p:sp>
          <p:nvSpPr>
            <p:cNvPr id="35" name="TextBox 18"/>
            <p:cNvSpPr txBox="1"/>
            <p:nvPr/>
          </p:nvSpPr>
          <p:spPr>
            <a:xfrm>
              <a:off x="6616339" y="1282180"/>
              <a:ext cx="546387" cy="717446"/>
            </a:xfrm>
            <a:prstGeom prst="rect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>
              <a:defPPr>
                <a:defRPr lang="zh-CN"/>
              </a:defPPr>
              <a:lvl1pPr algn="ctr">
                <a:defRPr>
                  <a:solidFill>
                    <a:srgbClr val="FFFFFF"/>
                  </a:solidFill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2000" b="1" dirty="0">
                  <a:latin typeface="汉仪铁线黑-65简" panose="00020600040101010101" charset="-122"/>
                  <a:ea typeface="汉仪铁线黑-65简" panose="00020600040101010101" charset="-122"/>
                </a:rPr>
                <a:t>1</a:t>
              </a:r>
              <a:endParaRPr lang="zh-CN" altLang="en-US" sz="2000" b="1" dirty="0"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</p:grpSp>
      <p:grpSp>
        <p:nvGrpSpPr>
          <p:cNvPr id="36" name="组合 19"/>
          <p:cNvGrpSpPr/>
          <p:nvPr/>
        </p:nvGrpSpPr>
        <p:grpSpPr>
          <a:xfrm>
            <a:off x="1846740" y="2536830"/>
            <a:ext cx="534958" cy="530674"/>
            <a:chOff x="6409426" y="2394908"/>
            <a:chExt cx="962086" cy="962084"/>
          </a:xfrm>
          <a:solidFill>
            <a:schemeClr val="bg1">
              <a:lumMod val="50000"/>
            </a:schemeClr>
          </a:solidFill>
        </p:grpSpPr>
        <p:sp>
          <p:nvSpPr>
            <p:cNvPr id="37" name="椭圆 36"/>
            <p:cNvSpPr/>
            <p:nvPr/>
          </p:nvSpPr>
          <p:spPr bwMode="auto">
            <a:xfrm>
              <a:off x="6409426" y="2394908"/>
              <a:ext cx="962086" cy="962084"/>
            </a:xfrm>
            <a:prstGeom prst="ellipse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/>
            <a:p>
              <a:pPr algn="ctr"/>
              <a:endParaRPr lang="zh-CN" altLang="en-US" sz="1600" b="1">
                <a:solidFill>
                  <a:srgbClr val="FFFFFF"/>
                </a:solidFill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  <p:sp>
          <p:nvSpPr>
            <p:cNvPr id="38" name="TextBox 21"/>
            <p:cNvSpPr txBox="1"/>
            <p:nvPr/>
          </p:nvSpPr>
          <p:spPr>
            <a:xfrm>
              <a:off x="6600496" y="2510335"/>
              <a:ext cx="546387" cy="717446"/>
            </a:xfrm>
            <a:prstGeom prst="rect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>
              <a:defPPr>
                <a:defRPr lang="zh-CN"/>
              </a:defPPr>
              <a:lvl1pPr algn="ctr">
                <a:defRPr sz="1600">
                  <a:solidFill>
                    <a:srgbClr val="FFFFFF"/>
                  </a:solidFill>
                  <a:latin typeface="+mn-ea"/>
                  <a:ea typeface="+mn-ea"/>
                </a:defRPr>
              </a:lvl1pPr>
            </a:lstStyle>
            <a:p>
              <a:r>
                <a:rPr lang="en-US" altLang="zh-CN" sz="2135" b="1" dirty="0">
                  <a:latin typeface="汉仪铁线黑-65简" panose="00020600040101010101" charset="-122"/>
                  <a:ea typeface="汉仪铁线黑-65简" panose="00020600040101010101" charset="-122"/>
                </a:rPr>
                <a:t>2</a:t>
              </a:r>
              <a:endParaRPr lang="zh-CN" altLang="en-US" sz="2135" b="1" dirty="0"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</p:grpSp>
      <p:grpSp>
        <p:nvGrpSpPr>
          <p:cNvPr id="39" name="组合 22"/>
          <p:cNvGrpSpPr/>
          <p:nvPr/>
        </p:nvGrpSpPr>
        <p:grpSpPr>
          <a:xfrm>
            <a:off x="1857537" y="4509213"/>
            <a:ext cx="534958" cy="530674"/>
            <a:chOff x="6409426" y="3568104"/>
            <a:chExt cx="962086" cy="962084"/>
          </a:xfrm>
          <a:solidFill>
            <a:srgbClr val="5C92CF"/>
          </a:solidFill>
        </p:grpSpPr>
        <p:sp>
          <p:nvSpPr>
            <p:cNvPr id="40" name="椭圆 39"/>
            <p:cNvSpPr/>
            <p:nvPr/>
          </p:nvSpPr>
          <p:spPr bwMode="auto">
            <a:xfrm>
              <a:off x="6409426" y="3568104"/>
              <a:ext cx="962086" cy="962084"/>
            </a:xfrm>
            <a:prstGeom prst="ellipse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/>
            <a:p>
              <a:pPr algn="ctr"/>
              <a:endParaRPr lang="zh-CN" altLang="en-US" sz="1600" b="1" dirty="0">
                <a:solidFill>
                  <a:srgbClr val="FFFFFF"/>
                </a:solidFill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  <p:sp>
          <p:nvSpPr>
            <p:cNvPr id="41" name="TextBox 24"/>
            <p:cNvSpPr txBox="1"/>
            <p:nvPr/>
          </p:nvSpPr>
          <p:spPr>
            <a:xfrm>
              <a:off x="6617426" y="3681466"/>
              <a:ext cx="546387" cy="717446"/>
            </a:xfrm>
            <a:prstGeom prst="rect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>
              <a:defPPr>
                <a:defRPr lang="zh-CN"/>
              </a:defPPr>
              <a:lvl1pPr algn="ctr">
                <a:defRPr>
                  <a:solidFill>
                    <a:srgbClr val="FFFFFF"/>
                  </a:solidFill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2000" b="1" dirty="0">
                  <a:latin typeface="汉仪铁线黑-65简" panose="00020600040101010101" charset="-122"/>
                  <a:ea typeface="汉仪铁线黑-65简" panose="00020600040101010101" charset="-122"/>
                </a:rPr>
                <a:t>3</a:t>
              </a:r>
              <a:endParaRPr lang="zh-CN" altLang="en-US" sz="2000" b="1" dirty="0"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</p:grpSp>
      <p:sp>
        <p:nvSpPr>
          <p:cNvPr id="47" name="TextBox 29"/>
          <p:cNvSpPr txBox="1"/>
          <p:nvPr/>
        </p:nvSpPr>
        <p:spPr>
          <a:xfrm>
            <a:off x="9366885" y="1116330"/>
            <a:ext cx="2637790" cy="1879600"/>
          </a:xfrm>
          <a:prstGeom prst="rect">
            <a:avLst/>
          </a:prstGeom>
          <a:noFill/>
        </p:spPr>
        <p:txBody>
          <a:bodyPr wrap="square" lIns="81589" tIns="40794" rIns="81589" bIns="40794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Use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the Shapiro–Wilk normality test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 to check whether the variable PHQ-9 is approximately normally distributed.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48" name="TextBox 30"/>
          <p:cNvSpPr txBox="1"/>
          <p:nvPr/>
        </p:nvSpPr>
        <p:spPr>
          <a:xfrm>
            <a:off x="6161405" y="5030470"/>
            <a:ext cx="4977130" cy="1160145"/>
          </a:xfrm>
          <a:prstGeom prst="rect">
            <a:avLst/>
          </a:prstGeom>
          <a:noFill/>
        </p:spPr>
        <p:txBody>
          <a:bodyPr wrap="square" lIns="81589" tIns="40794" rIns="81589" bIns="40794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Create a binary grouping variable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early_drink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90204" charset="0"/>
                <a:cs typeface="Arial Regular" panose="020B0604020202090204" charset="0"/>
              </a:rPr>
              <a:t> for later comparison of the PHQ-9 average values ​​of different groups.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pic>
        <p:nvPicPr>
          <p:cNvPr id="3" name="图片 2" descr="截屏2025-12-17 上午1.50.35"/>
          <p:cNvPicPr>
            <a:picLocks noChangeAspect="1"/>
          </p:cNvPicPr>
          <p:nvPr/>
        </p:nvPicPr>
        <p:blipFill>
          <a:blip r:embed="rId1"/>
          <a:srcRect l="9250" b="17301"/>
          <a:stretch>
            <a:fillRect/>
          </a:stretch>
        </p:blipFill>
        <p:spPr>
          <a:xfrm>
            <a:off x="1901190" y="3094355"/>
            <a:ext cx="7531100" cy="6623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61820" y="3658870"/>
            <a:ext cx="3551555" cy="826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ea"/>
              </a:rPr>
              <a:t>H</a:t>
            </a: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ea"/>
              </a:rPr>
              <a:t>₀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ea"/>
              </a:rPr>
              <a:t>: Mean PHQ-9 score = 0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ea"/>
              </a:rPr>
              <a:t>H</a:t>
            </a: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ea"/>
              </a:rPr>
              <a:t>₁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 Regular" panose="020B0604020202090204" charset="0"/>
                <a:cs typeface="Arial Regular" panose="020B0604020202090204" charset="0"/>
                <a:sym typeface="+mn-ea"/>
              </a:rPr>
              <a:t>: Mean PHQ-9 score ≠ 0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Arial Regular" panose="020B0604020202090204" charset="0"/>
              <a:cs typeface="Arial Regular" panose="020B0604020202090204" charset="0"/>
            </a:endParaRPr>
          </a:p>
          <a:p>
            <a:endParaRPr lang="zh-CN" altLang="en-US" sz="1600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5" name="TextBox 15"/>
          <p:cNvSpPr txBox="1"/>
          <p:nvPr/>
        </p:nvSpPr>
        <p:spPr>
          <a:xfrm>
            <a:off x="2407920" y="600075"/>
            <a:ext cx="3185160" cy="574675"/>
          </a:xfrm>
          <a:prstGeom prst="rect">
            <a:avLst/>
          </a:prstGeom>
          <a:noFill/>
        </p:spPr>
        <p:txBody>
          <a:bodyPr wrap="square" lIns="81589" tIns="40794" rIns="81589" bIns="40794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Normality test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7" name="图片 6" descr="截屏2025-12-17 上午1.58.20"/>
          <p:cNvPicPr>
            <a:picLocks noChangeAspect="1"/>
          </p:cNvPicPr>
          <p:nvPr/>
        </p:nvPicPr>
        <p:blipFill>
          <a:blip r:embed="rId2"/>
          <a:srcRect l="834"/>
          <a:stretch>
            <a:fillRect/>
          </a:stretch>
        </p:blipFill>
        <p:spPr>
          <a:xfrm>
            <a:off x="1908175" y="1212215"/>
            <a:ext cx="7320915" cy="1280795"/>
          </a:xfrm>
          <a:prstGeom prst="rect">
            <a:avLst/>
          </a:prstGeom>
        </p:spPr>
      </p:pic>
      <p:pic>
        <p:nvPicPr>
          <p:cNvPr id="8" name="图片 7" descr="截屏2025-12-17 上午2.02.0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50110" y="5055235"/>
            <a:ext cx="3730625" cy="1759585"/>
          </a:xfrm>
          <a:prstGeom prst="rect">
            <a:avLst/>
          </a:prstGeom>
        </p:spPr>
      </p:pic>
      <p:sp>
        <p:nvSpPr>
          <p:cNvPr id="12" name="TextBox 15"/>
          <p:cNvSpPr txBox="1"/>
          <p:nvPr/>
        </p:nvSpPr>
        <p:spPr>
          <a:xfrm>
            <a:off x="2424430" y="4465320"/>
            <a:ext cx="3185160" cy="574675"/>
          </a:xfrm>
          <a:prstGeom prst="rect">
            <a:avLst/>
          </a:prstGeom>
          <a:noFill/>
        </p:spPr>
        <p:txBody>
          <a:bodyPr wrap="square" lIns="81589" tIns="40794" rIns="81589" bIns="40794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Two-sample t-test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80139" y="0"/>
            <a:ext cx="11904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774" y="0"/>
            <a:ext cx="6149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1" y="2932537"/>
            <a:ext cx="1770610" cy="57465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5" name="Freeform 13"/>
          <p:cNvSpPr>
            <a:spLocks noEditPoints="1"/>
          </p:cNvSpPr>
          <p:nvPr/>
        </p:nvSpPr>
        <p:spPr bwMode="auto">
          <a:xfrm>
            <a:off x="185704" y="2527443"/>
            <a:ext cx="292026" cy="274029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6" name="Freeform 12"/>
          <p:cNvSpPr>
            <a:spLocks noEditPoints="1"/>
          </p:cNvSpPr>
          <p:nvPr/>
        </p:nvSpPr>
        <p:spPr bwMode="auto">
          <a:xfrm>
            <a:off x="139176" y="3067377"/>
            <a:ext cx="336729" cy="324815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7" name="Freeform 11"/>
          <p:cNvSpPr>
            <a:spLocks noEditPoints="1"/>
          </p:cNvSpPr>
          <p:nvPr/>
        </p:nvSpPr>
        <p:spPr bwMode="auto">
          <a:xfrm>
            <a:off x="163523" y="3696687"/>
            <a:ext cx="296922" cy="245847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72" name="直接连接符 71"/>
          <p:cNvCxnSpPr/>
          <p:nvPr/>
        </p:nvCxnSpPr>
        <p:spPr>
          <a:xfrm flipH="1">
            <a:off x="113560" y="4085816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73" name="直接连接符 72"/>
          <p:cNvCxnSpPr/>
          <p:nvPr/>
        </p:nvCxnSpPr>
        <p:spPr>
          <a:xfrm flipH="1">
            <a:off x="113560" y="4663908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74" name="Freeform 28"/>
          <p:cNvSpPr>
            <a:spLocks noEditPoints="1"/>
          </p:cNvSpPr>
          <p:nvPr/>
        </p:nvSpPr>
        <p:spPr bwMode="auto">
          <a:xfrm>
            <a:off x="141008" y="4240315"/>
            <a:ext cx="319438" cy="270040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7" name="Freeform 27"/>
          <p:cNvSpPr>
            <a:spLocks noEditPoints="1"/>
          </p:cNvSpPr>
          <p:nvPr/>
        </p:nvSpPr>
        <p:spPr bwMode="auto">
          <a:xfrm>
            <a:off x="184072" y="1975423"/>
            <a:ext cx="265566" cy="284891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H="1">
            <a:off x="113560" y="2366107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1770610" y="505764"/>
            <a:ext cx="10080014" cy="55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9836150" y="187325"/>
            <a:ext cx="2023745" cy="32893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9"/>
          <p:cNvSpPr txBox="1"/>
          <p:nvPr/>
        </p:nvSpPr>
        <p:spPr>
          <a:xfrm>
            <a:off x="9670415" y="187325"/>
            <a:ext cx="2355215" cy="2838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en-US" altLang="zh-CN" sz="1400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Statistical Method</a:t>
            </a:r>
            <a:endParaRPr lang="zh-CN" altLang="en-US" sz="1400" dirty="0">
              <a:solidFill>
                <a:schemeClr val="bg1"/>
              </a:solidFill>
              <a:latin typeface="汉仪铁线黑-65简" panose="00020600040101010101" charset="-122"/>
              <a:ea typeface="汉仪铁线黑-65简" panose="00020600040101010101" charset="-122"/>
            </a:endParaRPr>
          </a:p>
        </p:txBody>
      </p:sp>
      <p:grpSp>
        <p:nvGrpSpPr>
          <p:cNvPr id="33" name="组合 16"/>
          <p:cNvGrpSpPr/>
          <p:nvPr/>
        </p:nvGrpSpPr>
        <p:grpSpPr>
          <a:xfrm>
            <a:off x="1857535" y="643780"/>
            <a:ext cx="534958" cy="530674"/>
            <a:chOff x="6409426" y="1173624"/>
            <a:chExt cx="962086" cy="962084"/>
          </a:xfrm>
          <a:solidFill>
            <a:srgbClr val="1F4E79"/>
          </a:solidFill>
        </p:grpSpPr>
        <p:sp>
          <p:nvSpPr>
            <p:cNvPr id="34" name="椭圆 33"/>
            <p:cNvSpPr/>
            <p:nvPr/>
          </p:nvSpPr>
          <p:spPr bwMode="auto">
            <a:xfrm>
              <a:off x="6409426" y="1173624"/>
              <a:ext cx="962086" cy="962084"/>
            </a:xfrm>
            <a:prstGeom prst="ellipse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/>
            <a:p>
              <a:pPr algn="ctr"/>
              <a:endParaRPr lang="zh-CN" altLang="en-US" sz="1600" b="1">
                <a:solidFill>
                  <a:srgbClr val="314865"/>
                </a:solidFill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  <p:sp>
          <p:nvSpPr>
            <p:cNvPr id="35" name="TextBox 18"/>
            <p:cNvSpPr txBox="1"/>
            <p:nvPr/>
          </p:nvSpPr>
          <p:spPr>
            <a:xfrm>
              <a:off x="6616339" y="1282180"/>
              <a:ext cx="546387" cy="717446"/>
            </a:xfrm>
            <a:prstGeom prst="rect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>
              <a:defPPr>
                <a:defRPr lang="zh-CN"/>
              </a:defPPr>
              <a:lvl1pPr algn="ctr">
                <a:defRPr>
                  <a:solidFill>
                    <a:srgbClr val="FFFFFF"/>
                  </a:solidFill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2000" b="1" dirty="0">
                  <a:latin typeface="汉仪铁线黑-65简" panose="00020600040101010101" charset="-122"/>
                  <a:ea typeface="汉仪铁线黑-65简" panose="00020600040101010101" charset="-122"/>
                </a:rPr>
                <a:t>4</a:t>
              </a:r>
              <a:endParaRPr lang="en-US" altLang="zh-CN" sz="2000" b="1" dirty="0"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</p:grpSp>
      <p:pic>
        <p:nvPicPr>
          <p:cNvPr id="3" name="图片 2" descr="截屏2025-12-17 上午2.16.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190" y="1259205"/>
            <a:ext cx="7265670" cy="2473325"/>
          </a:xfrm>
          <a:prstGeom prst="rect">
            <a:avLst/>
          </a:prstGeom>
        </p:spPr>
      </p:pic>
      <p:sp>
        <p:nvSpPr>
          <p:cNvPr id="32" name="TextBox 15"/>
          <p:cNvSpPr txBox="1"/>
          <p:nvPr/>
        </p:nvSpPr>
        <p:spPr>
          <a:xfrm>
            <a:off x="2432685" y="595630"/>
            <a:ext cx="3185160" cy="574675"/>
          </a:xfrm>
          <a:prstGeom prst="rect">
            <a:avLst/>
          </a:prstGeom>
          <a:noFill/>
        </p:spPr>
        <p:txBody>
          <a:bodyPr wrap="square" lIns="81589" tIns="40794" rIns="81589" bIns="40794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One-way ANOVA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5" name="图片 4" descr="截屏2025-12-17 上午2.18.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90" y="4485640"/>
            <a:ext cx="5082540" cy="2130425"/>
          </a:xfrm>
          <a:prstGeom prst="rect">
            <a:avLst/>
          </a:prstGeom>
        </p:spPr>
      </p:pic>
      <p:grpSp>
        <p:nvGrpSpPr>
          <p:cNvPr id="6" name="组合 16"/>
          <p:cNvGrpSpPr/>
          <p:nvPr/>
        </p:nvGrpSpPr>
        <p:grpSpPr>
          <a:xfrm>
            <a:off x="1875315" y="3820050"/>
            <a:ext cx="534958" cy="530674"/>
            <a:chOff x="6409426" y="1173624"/>
            <a:chExt cx="962086" cy="962084"/>
          </a:xfrm>
          <a:solidFill>
            <a:srgbClr val="1F4E79"/>
          </a:solidFill>
        </p:grpSpPr>
        <p:sp>
          <p:nvSpPr>
            <p:cNvPr id="7" name="椭圆 6"/>
            <p:cNvSpPr/>
            <p:nvPr/>
          </p:nvSpPr>
          <p:spPr bwMode="auto">
            <a:xfrm>
              <a:off x="6409426" y="1173624"/>
              <a:ext cx="962086" cy="962084"/>
            </a:xfrm>
            <a:prstGeom prst="ellipse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/>
            <a:p>
              <a:pPr algn="ctr"/>
              <a:endParaRPr lang="zh-CN" altLang="en-US" sz="1600" b="1">
                <a:solidFill>
                  <a:srgbClr val="314865"/>
                </a:solidFill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  <p:sp>
          <p:nvSpPr>
            <p:cNvPr id="8" name="TextBox 18"/>
            <p:cNvSpPr txBox="1"/>
            <p:nvPr/>
          </p:nvSpPr>
          <p:spPr>
            <a:xfrm>
              <a:off x="6616129" y="1281839"/>
              <a:ext cx="545878" cy="717211"/>
            </a:xfrm>
            <a:prstGeom prst="rect">
              <a:avLst/>
            </a:prstGeom>
            <a:grpFill/>
            <a:ln w="3175" cap="flat" cmpd="sng">
              <a:noFill/>
              <a:bevel/>
            </a:ln>
          </p:spPr>
          <p:txBody>
            <a:bodyPr anchor="ctr"/>
            <a:lstStyle>
              <a:defPPr>
                <a:defRPr lang="zh-CN"/>
              </a:defPPr>
              <a:lvl1pPr algn="ctr">
                <a:defRPr>
                  <a:solidFill>
                    <a:srgbClr val="FFFFFF"/>
                  </a:solidFill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2000" b="1" dirty="0">
                  <a:latin typeface="汉仪铁线黑-65简" panose="00020600040101010101" charset="-122"/>
                  <a:ea typeface="汉仪铁线黑-65简" panose="00020600040101010101" charset="-122"/>
                </a:rPr>
                <a:t>5</a:t>
              </a:r>
              <a:endParaRPr lang="en-US" altLang="zh-CN" sz="2000" b="1" dirty="0">
                <a:latin typeface="汉仪铁线黑-65简" panose="00020600040101010101" charset="-122"/>
                <a:ea typeface="汉仪铁线黑-65简" panose="00020600040101010101" charset="-122"/>
              </a:endParaRPr>
            </a:p>
          </p:txBody>
        </p:sp>
      </p:grpSp>
      <p:sp>
        <p:nvSpPr>
          <p:cNvPr id="9" name="TextBox 15"/>
          <p:cNvSpPr txBox="1"/>
          <p:nvPr/>
        </p:nvSpPr>
        <p:spPr>
          <a:xfrm>
            <a:off x="2466340" y="3815715"/>
            <a:ext cx="4131945" cy="574675"/>
          </a:xfrm>
          <a:prstGeom prst="rect">
            <a:avLst/>
          </a:prstGeom>
          <a:noFill/>
        </p:spPr>
        <p:txBody>
          <a:bodyPr wrap="square" lIns="81589" tIns="40794" rIns="81589" bIns="40794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Correlation + CI (Fisher z)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1" y="2493690"/>
            <a:ext cx="12190414" cy="2304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 rot="5400000">
            <a:off x="893108" y="2158707"/>
            <a:ext cx="3083386" cy="2732788"/>
            <a:chOff x="3385822" y="2342962"/>
            <a:chExt cx="2463822" cy="2183669"/>
          </a:xfrm>
        </p:grpSpPr>
        <p:sp>
          <p:nvSpPr>
            <p:cNvPr id="17" name="Freeform 5"/>
            <p:cNvSpPr/>
            <p:nvPr/>
          </p:nvSpPr>
          <p:spPr bwMode="auto">
            <a:xfrm rot="10800000">
              <a:off x="3385822" y="2342962"/>
              <a:ext cx="2463822" cy="2183669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noFill/>
            </a:ln>
            <a:effectLst>
              <a:outerShdw blurRad="355600" dist="88900" dir="2700000" algn="tl" rotWithShape="0">
                <a:prstClr val="black">
                  <a:alpha val="28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8" name="Freeform 5"/>
            <p:cNvSpPr/>
            <p:nvPr/>
          </p:nvSpPr>
          <p:spPr bwMode="auto">
            <a:xfrm rot="10800000">
              <a:off x="3589408" y="2523401"/>
              <a:ext cx="2056648" cy="18227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tx2"/>
            </a:solidFill>
            <a:ln w="25400">
              <a:noFill/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800" dirty="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3945255" y="3064510"/>
            <a:ext cx="880935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5400" b="1" dirty="0">
                <a:solidFill>
                  <a:srgbClr val="313D5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Results And Conclusion</a:t>
            </a:r>
            <a:endParaRPr lang="en-US" altLang="zh-CN" sz="5400" b="1" dirty="0">
              <a:solidFill>
                <a:srgbClr val="313D51"/>
              </a:solidFill>
              <a:latin typeface="Arial Bold" panose="020B0604020202090204" charset="0"/>
              <a:cs typeface="Arial Bold" panose="020B0604020202090204" charset="0"/>
              <a:sym typeface="+mn-lt"/>
            </a:endParaRPr>
          </a:p>
        </p:txBody>
      </p:sp>
      <p:sp>
        <p:nvSpPr>
          <p:cNvPr id="21" name="文本框 32"/>
          <p:cNvSpPr txBox="1"/>
          <p:nvPr/>
        </p:nvSpPr>
        <p:spPr>
          <a:xfrm>
            <a:off x="929335" y="2633265"/>
            <a:ext cx="290895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dirty="0">
                <a:solidFill>
                  <a:schemeClr val="bg1"/>
                </a:solidFill>
                <a:latin typeface="汉仪铁线黑-65简" panose="00020600040101010101" charset="-122"/>
                <a:ea typeface="汉仪铁线黑-65简" panose="00020600040101010101" charset="-122"/>
                <a:cs typeface="+mn-ea"/>
                <a:sym typeface="+mn-lt"/>
              </a:rPr>
              <a:t>04</a:t>
            </a:r>
            <a:endParaRPr lang="zh-CN" altLang="en-US" sz="9600" dirty="0">
              <a:solidFill>
                <a:schemeClr val="bg1"/>
              </a:solidFill>
              <a:latin typeface="汉仪铁线黑-65简" panose="00020600040101010101" charset="-122"/>
              <a:ea typeface="汉仪铁线黑-65简" panose="0002060004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80139" y="0"/>
            <a:ext cx="11904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774" y="0"/>
            <a:ext cx="61494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0" name="直接连接符 39"/>
          <p:cNvCxnSpPr/>
          <p:nvPr/>
        </p:nvCxnSpPr>
        <p:spPr>
          <a:xfrm flipH="1">
            <a:off x="113560" y="2929632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43" name="矩形 42"/>
          <p:cNvSpPr/>
          <p:nvPr/>
        </p:nvSpPr>
        <p:spPr>
          <a:xfrm>
            <a:off x="0" y="4091016"/>
            <a:ext cx="1770610" cy="57465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5" name="Freeform 13"/>
          <p:cNvSpPr>
            <a:spLocks noEditPoints="1"/>
          </p:cNvSpPr>
          <p:nvPr/>
        </p:nvSpPr>
        <p:spPr bwMode="auto">
          <a:xfrm>
            <a:off x="185704" y="2527443"/>
            <a:ext cx="292026" cy="274029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6" name="Freeform 12"/>
          <p:cNvSpPr>
            <a:spLocks noEditPoints="1"/>
          </p:cNvSpPr>
          <p:nvPr/>
        </p:nvSpPr>
        <p:spPr bwMode="auto">
          <a:xfrm>
            <a:off x="141001" y="3067377"/>
            <a:ext cx="336729" cy="324815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57" name="Freeform 11"/>
          <p:cNvSpPr>
            <a:spLocks noEditPoints="1"/>
          </p:cNvSpPr>
          <p:nvPr/>
        </p:nvSpPr>
        <p:spPr bwMode="auto">
          <a:xfrm>
            <a:off x="163523" y="3696687"/>
            <a:ext cx="296922" cy="245847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71" name="直接连接符 70"/>
          <p:cNvCxnSpPr/>
          <p:nvPr/>
        </p:nvCxnSpPr>
        <p:spPr>
          <a:xfrm flipH="1">
            <a:off x="113560" y="3507724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sp>
        <p:nvSpPr>
          <p:cNvPr id="74" name="Freeform 28"/>
          <p:cNvSpPr>
            <a:spLocks noEditPoints="1"/>
          </p:cNvSpPr>
          <p:nvPr/>
        </p:nvSpPr>
        <p:spPr bwMode="auto">
          <a:xfrm>
            <a:off x="141008" y="4240315"/>
            <a:ext cx="319438" cy="270040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7" name="Freeform 27"/>
          <p:cNvSpPr>
            <a:spLocks noEditPoints="1"/>
          </p:cNvSpPr>
          <p:nvPr/>
        </p:nvSpPr>
        <p:spPr bwMode="auto">
          <a:xfrm>
            <a:off x="184072" y="1975423"/>
            <a:ext cx="265566" cy="284891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H="1">
            <a:off x="113560" y="2401544"/>
            <a:ext cx="390525" cy="0"/>
          </a:xfrm>
          <a:prstGeom prst="line">
            <a:avLst/>
          </a:prstGeom>
          <a:noFill/>
          <a:ln w="6350" cap="flat" cmpd="sng" algn="ctr">
            <a:solidFill>
              <a:srgbClr val="62768C"/>
            </a:solidFill>
            <a:prstDash val="solid"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1770610" y="505764"/>
            <a:ext cx="10080014" cy="55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0066351" y="187550"/>
            <a:ext cx="1793418" cy="32893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9"/>
          <p:cNvSpPr txBox="1"/>
          <p:nvPr/>
        </p:nvSpPr>
        <p:spPr>
          <a:xfrm>
            <a:off x="10098735" y="188055"/>
            <a:ext cx="1793418" cy="2838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 algn="ctr"/>
            <a:r>
              <a:rPr lang="en-US" altLang="zh-CN" sz="1400" b="1" dirty="0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lt"/>
              </a:rPr>
              <a:t>Conclusion</a:t>
            </a:r>
            <a:endParaRPr lang="en-US" altLang="zh-CN" sz="1400" b="1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+mn-lt"/>
            </a:endParaRPr>
          </a:p>
        </p:txBody>
      </p:sp>
      <p:pic>
        <p:nvPicPr>
          <p:cNvPr id="2" name="图片 1" descr="截屏2025-12-17 上午2.33.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245" y="1170305"/>
            <a:ext cx="5125085" cy="2354580"/>
          </a:xfrm>
          <a:prstGeom prst="rect">
            <a:avLst/>
          </a:prstGeom>
        </p:spPr>
      </p:pic>
      <p:sp>
        <p:nvSpPr>
          <p:cNvPr id="32" name="TextBox 15"/>
          <p:cNvSpPr txBox="1"/>
          <p:nvPr/>
        </p:nvSpPr>
        <p:spPr>
          <a:xfrm>
            <a:off x="1901190" y="595630"/>
            <a:ext cx="3185160" cy="574675"/>
          </a:xfrm>
          <a:prstGeom prst="rect">
            <a:avLst/>
          </a:prstGeom>
          <a:noFill/>
        </p:spPr>
        <p:txBody>
          <a:bodyPr wrap="square" lIns="81589" tIns="40794" rIns="81589" bIns="40794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O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utput：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60880" y="4271645"/>
            <a:ext cx="840867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/>
              <a:t>Using cleaned NHANES survey data, this project found that the average PHQ-9 score in the sample was 3.24, which is significantly different from zero based on a one-sample t-test (t(5067) = 54.36, p &lt; 0.001, 99% CI [3.09, 3.39]). This indicates that depressive symptoms are present at a non-zero level in the surveyed population. Additional group-based analyses (t-test / ANOVA) and visualizations suggest that PHQ-9 scores vary across behavioral exposure groups, providing further descriptive insight into differences in depressive symptom levels.</a:t>
            </a:r>
            <a:endParaRPr lang="en-US" altLang="zh-CN"/>
          </a:p>
        </p:txBody>
      </p:sp>
      <p:sp>
        <p:nvSpPr>
          <p:cNvPr id="4" name="TextBox 15"/>
          <p:cNvSpPr txBox="1"/>
          <p:nvPr/>
        </p:nvSpPr>
        <p:spPr>
          <a:xfrm>
            <a:off x="1955800" y="3696970"/>
            <a:ext cx="3185160" cy="574675"/>
          </a:xfrm>
          <a:prstGeom prst="rect">
            <a:avLst/>
          </a:prstGeom>
          <a:noFill/>
        </p:spPr>
        <p:txBody>
          <a:bodyPr wrap="square" lIns="81589" tIns="40794" rIns="81589" bIns="40794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Conclusion：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1440160"/>
            <a:ext cx="12195175" cy="280831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1584176"/>
            <a:ext cx="12195175" cy="321297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65100" dist="1143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7"/>
          <p:cNvSpPr>
            <a:spLocks noChangeArrowheads="1"/>
          </p:cNvSpPr>
          <p:nvPr/>
        </p:nvSpPr>
        <p:spPr bwMode="auto">
          <a:xfrm>
            <a:off x="1923415" y="2812415"/>
            <a:ext cx="8864600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b="1" dirty="0">
                <a:solidFill>
                  <a:schemeClr val="bg1"/>
                </a:solidFill>
                <a:latin typeface="Arial Bold" panose="020B0604020202090204" charset="0"/>
                <a:ea typeface="汉仪铁线黑-65简" panose="00020600040101010101" charset="-122"/>
                <a:cs typeface="Arial Bold" panose="020B0604020202090204" charset="0"/>
                <a:sym typeface="汉仪铁线黑-65简" panose="00020600040101010101" charset="-122"/>
              </a:rPr>
              <a:t>Thank You For Listening</a:t>
            </a:r>
            <a:endParaRPr lang="en-US" altLang="zh-CN" sz="5400" b="1" dirty="0">
              <a:solidFill>
                <a:schemeClr val="bg1"/>
              </a:solidFill>
              <a:latin typeface="Arial Bold" panose="020B0604020202090204" charset="0"/>
              <a:ea typeface="汉仪铁线黑-65简" panose="00020600040101010101" charset="-122"/>
              <a:cs typeface="Arial Bold" panose="020B0604020202090204" charset="0"/>
              <a:sym typeface="汉仪铁线黑-65简" panose="00020600040101010101" charset="-122"/>
            </a:endParaRPr>
          </a:p>
        </p:txBody>
      </p:sp>
      <p:sp>
        <p:nvSpPr>
          <p:cNvPr id="46" name="矩形 3"/>
          <p:cNvSpPr>
            <a:spLocks noChangeArrowheads="1"/>
          </p:cNvSpPr>
          <p:nvPr/>
        </p:nvSpPr>
        <p:spPr bwMode="auto">
          <a:xfrm>
            <a:off x="5023764" y="4011538"/>
            <a:ext cx="2184400" cy="313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汉仪铁线黑-65简" panose="00020600040101010101" charset="-122"/>
                <a:ea typeface="汉仪铁线黑-65简" panose="00020600040101010101" charset="-122"/>
                <a:cs typeface="Arial" panose="020B0604020202090204" pitchFamily="34" charset="0"/>
              </a:rPr>
              <a:t>Yiling Yang 1306339</a:t>
            </a:r>
            <a:endParaRPr lang="en-US" altLang="zh-CN" sz="1600" dirty="0">
              <a:solidFill>
                <a:schemeClr val="bg1"/>
              </a:solidFill>
              <a:latin typeface="汉仪铁线黑-65简" panose="00020600040101010101" charset="-122"/>
              <a:ea typeface="汉仪铁线黑-65简" panose="00020600040101010101" charset="-122"/>
              <a:cs typeface="Arial" panose="020B0604020202090204" pitchFamily="34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4081363" y="5020313"/>
            <a:ext cx="663125" cy="663125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4873451" y="5020313"/>
            <a:ext cx="663125" cy="663125"/>
          </a:xfrm>
          <a:prstGeom prst="ellips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5726382" y="5020313"/>
            <a:ext cx="663125" cy="663125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6544688" y="5020313"/>
            <a:ext cx="663125" cy="663125"/>
          </a:xfrm>
          <a:prstGeom prst="ellips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7393731" y="5020313"/>
            <a:ext cx="663125" cy="663125"/>
          </a:xfrm>
          <a:prstGeom prst="ellipse">
            <a:avLst/>
          </a:prstGeom>
          <a:solidFill>
            <a:srgbClr val="34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5138409" y="548680"/>
            <a:ext cx="1895282" cy="18952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Freeform 27"/>
          <p:cNvSpPr>
            <a:spLocks noEditPoints="1"/>
          </p:cNvSpPr>
          <p:nvPr/>
        </p:nvSpPr>
        <p:spPr bwMode="auto">
          <a:xfrm>
            <a:off x="4239239" y="5140396"/>
            <a:ext cx="404650" cy="434096"/>
          </a:xfrm>
          <a:custGeom>
            <a:avLst/>
            <a:gdLst>
              <a:gd name="T0" fmla="*/ 2147483646 w 812"/>
              <a:gd name="T1" fmla="*/ 0 h 858"/>
              <a:gd name="T2" fmla="*/ 2147483646 w 812"/>
              <a:gd name="T3" fmla="*/ 2147483646 h 858"/>
              <a:gd name="T4" fmla="*/ 2147483646 w 812"/>
              <a:gd name="T5" fmla="*/ 2147483646 h 858"/>
              <a:gd name="T6" fmla="*/ 2147483646 w 812"/>
              <a:gd name="T7" fmla="*/ 2147483646 h 858"/>
              <a:gd name="T8" fmla="*/ 2147483646 w 812"/>
              <a:gd name="T9" fmla="*/ 2147483646 h 858"/>
              <a:gd name="T10" fmla="*/ 2147483646 w 812"/>
              <a:gd name="T11" fmla="*/ 2147483646 h 858"/>
              <a:gd name="T12" fmla="*/ 2147483646 w 812"/>
              <a:gd name="T13" fmla="*/ 2147483646 h 858"/>
              <a:gd name="T14" fmla="*/ 2147483646 w 812"/>
              <a:gd name="T15" fmla="*/ 2147483646 h 858"/>
              <a:gd name="T16" fmla="*/ 0 w 812"/>
              <a:gd name="T17" fmla="*/ 2147483646 h 858"/>
              <a:gd name="T18" fmla="*/ 2147483646 w 812"/>
              <a:gd name="T19" fmla="*/ 2147483646 h 858"/>
              <a:gd name="T20" fmla="*/ 2147483646 w 812"/>
              <a:gd name="T21" fmla="*/ 2147483646 h 858"/>
              <a:gd name="T22" fmla="*/ 2147483646 w 812"/>
              <a:gd name="T23" fmla="*/ 2147483646 h 858"/>
              <a:gd name="T24" fmla="*/ 2147483646 w 812"/>
              <a:gd name="T25" fmla="*/ 2147483646 h 858"/>
              <a:gd name="T26" fmla="*/ 2147483646 w 812"/>
              <a:gd name="T27" fmla="*/ 2147483646 h 858"/>
              <a:gd name="T28" fmla="*/ 2147483646 w 812"/>
              <a:gd name="T29" fmla="*/ 2147483646 h 858"/>
              <a:gd name="T30" fmla="*/ 2147483646 w 812"/>
              <a:gd name="T31" fmla="*/ 2147483646 h 858"/>
              <a:gd name="T32" fmla="*/ 2147483646 w 812"/>
              <a:gd name="T33" fmla="*/ 2147483646 h 858"/>
              <a:gd name="T34" fmla="*/ 2147483646 w 812"/>
              <a:gd name="T35" fmla="*/ 2147483646 h 858"/>
              <a:gd name="T36" fmla="*/ 2147483646 w 812"/>
              <a:gd name="T37" fmla="*/ 2147483646 h 858"/>
              <a:gd name="T38" fmla="*/ 2147483646 w 812"/>
              <a:gd name="T39" fmla="*/ 2147483646 h 858"/>
              <a:gd name="T40" fmla="*/ 2147483646 w 812"/>
              <a:gd name="T41" fmla="*/ 2147483646 h 858"/>
              <a:gd name="T42" fmla="*/ 2147483646 w 812"/>
              <a:gd name="T43" fmla="*/ 2147483646 h 858"/>
              <a:gd name="T44" fmla="*/ 2147483646 w 812"/>
              <a:gd name="T45" fmla="*/ 2147483646 h 858"/>
              <a:gd name="T46" fmla="*/ 2147483646 w 812"/>
              <a:gd name="T47" fmla="*/ 2147483646 h 858"/>
              <a:gd name="T48" fmla="*/ 2147483646 w 812"/>
              <a:gd name="T49" fmla="*/ 2147483646 h 858"/>
              <a:gd name="T50" fmla="*/ 2147483646 w 812"/>
              <a:gd name="T51" fmla="*/ 2147483646 h 858"/>
              <a:gd name="T52" fmla="*/ 2147483646 w 812"/>
              <a:gd name="T53" fmla="*/ 2147483646 h 858"/>
              <a:gd name="T54" fmla="*/ 2147483646 w 812"/>
              <a:gd name="T55" fmla="*/ 2147483646 h 858"/>
              <a:gd name="T56" fmla="*/ 2147483646 w 812"/>
              <a:gd name="T57" fmla="*/ 2147483646 h 858"/>
              <a:gd name="T58" fmla="*/ 2147483646 w 812"/>
              <a:gd name="T59" fmla="*/ 2147483646 h 858"/>
              <a:gd name="T60" fmla="*/ 2147483646 w 812"/>
              <a:gd name="T61" fmla="*/ 2147483646 h 858"/>
              <a:gd name="T62" fmla="*/ 2147483646 w 812"/>
              <a:gd name="T63" fmla="*/ 2147483646 h 858"/>
              <a:gd name="T64" fmla="*/ 2147483646 w 812"/>
              <a:gd name="T65" fmla="*/ 2147483646 h 858"/>
              <a:gd name="T66" fmla="*/ 2147483646 w 812"/>
              <a:gd name="T67" fmla="*/ 2147483646 h 858"/>
              <a:gd name="T68" fmla="*/ 2147483646 w 812"/>
              <a:gd name="T69" fmla="*/ 2147483646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69" name="Freeform 13"/>
          <p:cNvSpPr>
            <a:spLocks noEditPoints="1"/>
          </p:cNvSpPr>
          <p:nvPr/>
        </p:nvSpPr>
        <p:spPr bwMode="auto">
          <a:xfrm>
            <a:off x="5009502" y="5138126"/>
            <a:ext cx="460814" cy="432415"/>
          </a:xfrm>
          <a:custGeom>
            <a:avLst/>
            <a:gdLst>
              <a:gd name="T0" fmla="*/ 0 w 957"/>
              <a:gd name="T1" fmla="*/ 2147483646 h 885"/>
              <a:gd name="T2" fmla="*/ 2147483646 w 957"/>
              <a:gd name="T3" fmla="*/ 2147483646 h 885"/>
              <a:gd name="T4" fmla="*/ 2147483646 w 957"/>
              <a:gd name="T5" fmla="*/ 2147483646 h 885"/>
              <a:gd name="T6" fmla="*/ 2147483646 w 957"/>
              <a:gd name="T7" fmla="*/ 2147483646 h 885"/>
              <a:gd name="T8" fmla="*/ 2147483646 w 957"/>
              <a:gd name="T9" fmla="*/ 2147483646 h 885"/>
              <a:gd name="T10" fmla="*/ 2147483646 w 957"/>
              <a:gd name="T11" fmla="*/ 2147483646 h 885"/>
              <a:gd name="T12" fmla="*/ 2147483646 w 957"/>
              <a:gd name="T13" fmla="*/ 2147483646 h 885"/>
              <a:gd name="T14" fmla="*/ 2147483646 w 957"/>
              <a:gd name="T15" fmla="*/ 2147483646 h 885"/>
              <a:gd name="T16" fmla="*/ 2147483646 w 957"/>
              <a:gd name="T17" fmla="*/ 2147483646 h 885"/>
              <a:gd name="T18" fmla="*/ 2147483646 w 957"/>
              <a:gd name="T19" fmla="*/ 2147483646 h 885"/>
              <a:gd name="T20" fmla="*/ 0 w 957"/>
              <a:gd name="T21" fmla="*/ 2147483646 h 885"/>
              <a:gd name="T22" fmla="*/ 2147483646 w 957"/>
              <a:gd name="T23" fmla="*/ 2147483646 h 885"/>
              <a:gd name="T24" fmla="*/ 2147483646 w 957"/>
              <a:gd name="T25" fmla="*/ 2147483646 h 885"/>
              <a:gd name="T26" fmla="*/ 2147483646 w 957"/>
              <a:gd name="T27" fmla="*/ 2147483646 h 885"/>
              <a:gd name="T28" fmla="*/ 2147483646 w 957"/>
              <a:gd name="T29" fmla="*/ 2147483646 h 885"/>
              <a:gd name="T30" fmla="*/ 2147483646 w 957"/>
              <a:gd name="T31" fmla="*/ 2147483646 h 885"/>
              <a:gd name="T32" fmla="*/ 2147483646 w 957"/>
              <a:gd name="T33" fmla="*/ 2147483646 h 885"/>
              <a:gd name="T34" fmla="*/ 2147483646 w 957"/>
              <a:gd name="T35" fmla="*/ 2147483646 h 885"/>
              <a:gd name="T36" fmla="*/ 2147483646 w 957"/>
              <a:gd name="T37" fmla="*/ 2147483646 h 885"/>
              <a:gd name="T38" fmla="*/ 2147483646 w 957"/>
              <a:gd name="T39" fmla="*/ 2147483646 h 885"/>
              <a:gd name="T40" fmla="*/ 2147483646 w 957"/>
              <a:gd name="T41" fmla="*/ 2147483646 h 885"/>
              <a:gd name="T42" fmla="*/ 2147483646 w 957"/>
              <a:gd name="T43" fmla="*/ 2147483646 h 885"/>
              <a:gd name="T44" fmla="*/ 2147483646 w 957"/>
              <a:gd name="T45" fmla="*/ 2147483646 h 885"/>
              <a:gd name="T46" fmla="*/ 2147483646 w 957"/>
              <a:gd name="T47" fmla="*/ 2147483646 h 885"/>
              <a:gd name="T48" fmla="*/ 2147483646 w 957"/>
              <a:gd name="T49" fmla="*/ 2147483646 h 885"/>
              <a:gd name="T50" fmla="*/ 2147483646 w 957"/>
              <a:gd name="T51" fmla="*/ 2147483646 h 885"/>
              <a:gd name="T52" fmla="*/ 2147483646 w 957"/>
              <a:gd name="T53" fmla="*/ 2147483646 h 885"/>
              <a:gd name="T54" fmla="*/ 2147483646 w 957"/>
              <a:gd name="T55" fmla="*/ 2147483646 h 885"/>
              <a:gd name="T56" fmla="*/ 2147483646 w 957"/>
              <a:gd name="T57" fmla="*/ 2147483646 h 885"/>
              <a:gd name="T58" fmla="*/ 2147483646 w 957"/>
              <a:gd name="T59" fmla="*/ 2147483646 h 885"/>
              <a:gd name="T60" fmla="*/ 2147483646 w 957"/>
              <a:gd name="T61" fmla="*/ 2147483646 h 885"/>
              <a:gd name="T62" fmla="*/ 2147483646 w 957"/>
              <a:gd name="T63" fmla="*/ 2147483646 h 885"/>
              <a:gd name="T64" fmla="*/ 2147483646 w 957"/>
              <a:gd name="T65" fmla="*/ 2147483646 h 885"/>
              <a:gd name="T66" fmla="*/ 2147483646 w 957"/>
              <a:gd name="T67" fmla="*/ 2147483646 h 885"/>
              <a:gd name="T68" fmla="*/ 2147483646 w 957"/>
              <a:gd name="T69" fmla="*/ 2147483646 h 885"/>
              <a:gd name="T70" fmla="*/ 2147483646 w 957"/>
              <a:gd name="T71" fmla="*/ 2147483646 h 885"/>
              <a:gd name="T72" fmla="*/ 2147483646 w 957"/>
              <a:gd name="T73" fmla="*/ 2147483646 h 885"/>
              <a:gd name="T74" fmla="*/ 2147483646 w 957"/>
              <a:gd name="T75" fmla="*/ 2147483646 h 885"/>
              <a:gd name="T76" fmla="*/ 2147483646 w 957"/>
              <a:gd name="T77" fmla="*/ 2147483646 h 885"/>
              <a:gd name="T78" fmla="*/ 2147483646 w 957"/>
              <a:gd name="T79" fmla="*/ 2147483646 h 885"/>
              <a:gd name="T80" fmla="*/ 2147483646 w 957"/>
              <a:gd name="T81" fmla="*/ 2147483646 h 885"/>
              <a:gd name="T82" fmla="*/ 2147483646 w 957"/>
              <a:gd name="T83" fmla="*/ 2147483646 h 885"/>
              <a:gd name="T84" fmla="*/ 2147483646 w 957"/>
              <a:gd name="T85" fmla="*/ 2147483646 h 885"/>
              <a:gd name="T86" fmla="*/ 2147483646 w 957"/>
              <a:gd name="T87" fmla="*/ 2147483646 h 885"/>
              <a:gd name="T88" fmla="*/ 2147483646 w 957"/>
              <a:gd name="T89" fmla="*/ 2147483646 h 885"/>
              <a:gd name="T90" fmla="*/ 2147483646 w 957"/>
              <a:gd name="T91" fmla="*/ 2147483646 h 885"/>
              <a:gd name="T92" fmla="*/ 2147483646 w 957"/>
              <a:gd name="T93" fmla="*/ 2147483646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0" name="Freeform 12"/>
          <p:cNvSpPr>
            <a:spLocks noEditPoints="1"/>
          </p:cNvSpPr>
          <p:nvPr/>
        </p:nvSpPr>
        <p:spPr bwMode="auto">
          <a:xfrm>
            <a:off x="5831016" y="5107576"/>
            <a:ext cx="476959" cy="460084"/>
          </a:xfrm>
          <a:custGeom>
            <a:avLst/>
            <a:gdLst>
              <a:gd name="T0" fmla="*/ 2147483646 w 1022"/>
              <a:gd name="T1" fmla="*/ 2147483646 h 973"/>
              <a:gd name="T2" fmla="*/ 2147483646 w 1022"/>
              <a:gd name="T3" fmla="*/ 2147483646 h 973"/>
              <a:gd name="T4" fmla="*/ 2147483646 w 1022"/>
              <a:gd name="T5" fmla="*/ 2147483646 h 973"/>
              <a:gd name="T6" fmla="*/ 2147483646 w 1022"/>
              <a:gd name="T7" fmla="*/ 2147483646 h 973"/>
              <a:gd name="T8" fmla="*/ 2147483646 w 1022"/>
              <a:gd name="T9" fmla="*/ 2147483646 h 973"/>
              <a:gd name="T10" fmla="*/ 2147483646 w 1022"/>
              <a:gd name="T11" fmla="*/ 2147483646 h 973"/>
              <a:gd name="T12" fmla="*/ 2147483646 w 1022"/>
              <a:gd name="T13" fmla="*/ 2147483646 h 973"/>
              <a:gd name="T14" fmla="*/ 2147483646 w 1022"/>
              <a:gd name="T15" fmla="*/ 2147483646 h 973"/>
              <a:gd name="T16" fmla="*/ 2147483646 w 1022"/>
              <a:gd name="T17" fmla="*/ 2147483646 h 973"/>
              <a:gd name="T18" fmla="*/ 2147483646 w 1022"/>
              <a:gd name="T19" fmla="*/ 2147483646 h 973"/>
              <a:gd name="T20" fmla="*/ 2147483646 w 1022"/>
              <a:gd name="T21" fmla="*/ 2147483646 h 973"/>
              <a:gd name="T22" fmla="*/ 2147483646 w 1022"/>
              <a:gd name="T23" fmla="*/ 2147483646 h 973"/>
              <a:gd name="T24" fmla="*/ 2147483646 w 1022"/>
              <a:gd name="T25" fmla="*/ 2147483646 h 973"/>
              <a:gd name="T26" fmla="*/ 2147483646 w 1022"/>
              <a:gd name="T27" fmla="*/ 2147483646 h 973"/>
              <a:gd name="T28" fmla="*/ 2147483646 w 1022"/>
              <a:gd name="T29" fmla="*/ 2147483646 h 973"/>
              <a:gd name="T30" fmla="*/ 2147483646 w 1022"/>
              <a:gd name="T31" fmla="*/ 2147483646 h 973"/>
              <a:gd name="T32" fmla="*/ 2147483646 w 1022"/>
              <a:gd name="T33" fmla="*/ 2147483646 h 973"/>
              <a:gd name="T34" fmla="*/ 2147483646 w 1022"/>
              <a:gd name="T35" fmla="*/ 2147483646 h 973"/>
              <a:gd name="T36" fmla="*/ 2147483646 w 1022"/>
              <a:gd name="T37" fmla="*/ 2147483646 h 973"/>
              <a:gd name="T38" fmla="*/ 2147483646 w 1022"/>
              <a:gd name="T39" fmla="*/ 2147483646 h 973"/>
              <a:gd name="T40" fmla="*/ 2147483646 w 1022"/>
              <a:gd name="T41" fmla="*/ 2147483646 h 973"/>
              <a:gd name="T42" fmla="*/ 2147483646 w 1022"/>
              <a:gd name="T43" fmla="*/ 2147483646 h 973"/>
              <a:gd name="T44" fmla="*/ 2147483646 w 1022"/>
              <a:gd name="T45" fmla="*/ 2147483646 h 973"/>
              <a:gd name="T46" fmla="*/ 2147483646 w 1022"/>
              <a:gd name="T47" fmla="*/ 2147483646 h 973"/>
              <a:gd name="T48" fmla="*/ 2147483646 w 1022"/>
              <a:gd name="T49" fmla="*/ 2147483646 h 973"/>
              <a:gd name="T50" fmla="*/ 2147483646 w 1022"/>
              <a:gd name="T51" fmla="*/ 2147483646 h 973"/>
              <a:gd name="T52" fmla="*/ 2147483646 w 1022"/>
              <a:gd name="T53" fmla="*/ 2147483646 h 973"/>
              <a:gd name="T54" fmla="*/ 2147483646 w 1022"/>
              <a:gd name="T55" fmla="*/ 2147483646 h 973"/>
              <a:gd name="T56" fmla="*/ 2147483646 w 1022"/>
              <a:gd name="T57" fmla="*/ 2147483646 h 973"/>
              <a:gd name="T58" fmla="*/ 2147483646 w 1022"/>
              <a:gd name="T59" fmla="*/ 2147483646 h 973"/>
              <a:gd name="T60" fmla="*/ 2147483646 w 1022"/>
              <a:gd name="T61" fmla="*/ 2147483646 h 973"/>
              <a:gd name="T62" fmla="*/ 2147483646 w 1022"/>
              <a:gd name="T63" fmla="*/ 2147483646 h 973"/>
              <a:gd name="T64" fmla="*/ 2147483646 w 1022"/>
              <a:gd name="T65" fmla="*/ 2147483646 h 973"/>
              <a:gd name="T66" fmla="*/ 2147483646 w 1022"/>
              <a:gd name="T67" fmla="*/ 2147483646 h 973"/>
              <a:gd name="T68" fmla="*/ 2147483646 w 1022"/>
              <a:gd name="T69" fmla="*/ 2147483646 h 973"/>
              <a:gd name="T70" fmla="*/ 2147483646 w 1022"/>
              <a:gd name="T71" fmla="*/ 2147483646 h 973"/>
              <a:gd name="T72" fmla="*/ 2147483646 w 1022"/>
              <a:gd name="T73" fmla="*/ 2147483646 h 973"/>
              <a:gd name="T74" fmla="*/ 2147483646 w 1022"/>
              <a:gd name="T75" fmla="*/ 2147483646 h 973"/>
              <a:gd name="T76" fmla="*/ 2147483646 w 1022"/>
              <a:gd name="T77" fmla="*/ 2147483646 h 973"/>
              <a:gd name="T78" fmla="*/ 2147483646 w 1022"/>
              <a:gd name="T79" fmla="*/ 2147483646 h 973"/>
              <a:gd name="T80" fmla="*/ 2147483646 w 1022"/>
              <a:gd name="T81" fmla="*/ 2147483646 h 973"/>
              <a:gd name="T82" fmla="*/ 2147483646 w 1022"/>
              <a:gd name="T83" fmla="*/ 2147483646 h 973"/>
              <a:gd name="T84" fmla="*/ 2147483646 w 1022"/>
              <a:gd name="T85" fmla="*/ 2147483646 h 973"/>
              <a:gd name="T86" fmla="*/ 2147483646 w 1022"/>
              <a:gd name="T87" fmla="*/ 214748364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1" name="Freeform 11"/>
          <p:cNvSpPr>
            <a:spLocks noEditPoints="1"/>
          </p:cNvSpPr>
          <p:nvPr/>
        </p:nvSpPr>
        <p:spPr bwMode="auto">
          <a:xfrm>
            <a:off x="6654845" y="5168688"/>
            <a:ext cx="461639" cy="382230"/>
          </a:xfrm>
          <a:custGeom>
            <a:avLst/>
            <a:gdLst>
              <a:gd name="T0" fmla="*/ 2147483646 w 948"/>
              <a:gd name="T1" fmla="*/ 2147483646 h 810"/>
              <a:gd name="T2" fmla="*/ 2147483646 w 948"/>
              <a:gd name="T3" fmla="*/ 2147483646 h 810"/>
              <a:gd name="T4" fmla="*/ 2147483646 w 948"/>
              <a:gd name="T5" fmla="*/ 2147483646 h 810"/>
              <a:gd name="T6" fmla="*/ 2147483646 w 948"/>
              <a:gd name="T7" fmla="*/ 2147483646 h 810"/>
              <a:gd name="T8" fmla="*/ 2147483646 w 948"/>
              <a:gd name="T9" fmla="*/ 2147483646 h 810"/>
              <a:gd name="T10" fmla="*/ 2147483646 w 948"/>
              <a:gd name="T11" fmla="*/ 2147483646 h 810"/>
              <a:gd name="T12" fmla="*/ 2147483646 w 948"/>
              <a:gd name="T13" fmla="*/ 2147483646 h 810"/>
              <a:gd name="T14" fmla="*/ 2147483646 w 948"/>
              <a:gd name="T15" fmla="*/ 2147483646 h 810"/>
              <a:gd name="T16" fmla="*/ 2147483646 w 948"/>
              <a:gd name="T17" fmla="*/ 2147483646 h 810"/>
              <a:gd name="T18" fmla="*/ 2147483646 w 948"/>
              <a:gd name="T19" fmla="*/ 2147483646 h 810"/>
              <a:gd name="T20" fmla="*/ 2147483646 w 948"/>
              <a:gd name="T21" fmla="*/ 2147483646 h 810"/>
              <a:gd name="T22" fmla="*/ 2147483646 w 948"/>
              <a:gd name="T23" fmla="*/ 2147483646 h 810"/>
              <a:gd name="T24" fmla="*/ 2147483646 w 948"/>
              <a:gd name="T25" fmla="*/ 2147483646 h 810"/>
              <a:gd name="T26" fmla="*/ 2147483646 w 948"/>
              <a:gd name="T27" fmla="*/ 2147483646 h 810"/>
              <a:gd name="T28" fmla="*/ 2147483646 w 948"/>
              <a:gd name="T29" fmla="*/ 2147483646 h 810"/>
              <a:gd name="T30" fmla="*/ 2147483646 w 948"/>
              <a:gd name="T31" fmla="*/ 2147483646 h 810"/>
              <a:gd name="T32" fmla="*/ 2147483646 w 948"/>
              <a:gd name="T33" fmla="*/ 2147483646 h 810"/>
              <a:gd name="T34" fmla="*/ 2147483646 w 948"/>
              <a:gd name="T35" fmla="*/ 2147483646 h 810"/>
              <a:gd name="T36" fmla="*/ 2147483646 w 948"/>
              <a:gd name="T37" fmla="*/ 2147483646 h 810"/>
              <a:gd name="T38" fmla="*/ 2147483646 w 948"/>
              <a:gd name="T39" fmla="*/ 2147483646 h 810"/>
              <a:gd name="T40" fmla="*/ 2147483646 w 948"/>
              <a:gd name="T41" fmla="*/ 2147483646 h 810"/>
              <a:gd name="T42" fmla="*/ 2147483646 w 948"/>
              <a:gd name="T43" fmla="*/ 2147483646 h 810"/>
              <a:gd name="T44" fmla="*/ 2147483646 w 948"/>
              <a:gd name="T45" fmla="*/ 2147483646 h 810"/>
              <a:gd name="T46" fmla="*/ 2147483646 w 948"/>
              <a:gd name="T47" fmla="*/ 2147483646 h 810"/>
              <a:gd name="T48" fmla="*/ 2147483646 w 948"/>
              <a:gd name="T49" fmla="*/ 2147483646 h 810"/>
              <a:gd name="T50" fmla="*/ 2147483646 w 948"/>
              <a:gd name="T51" fmla="*/ 2147483646 h 810"/>
              <a:gd name="T52" fmla="*/ 2147483646 w 948"/>
              <a:gd name="T53" fmla="*/ 2147483646 h 810"/>
              <a:gd name="T54" fmla="*/ 2147483646 w 948"/>
              <a:gd name="T55" fmla="*/ 2147483646 h 810"/>
              <a:gd name="T56" fmla="*/ 2147483646 w 948"/>
              <a:gd name="T57" fmla="*/ 2147483646 h 810"/>
              <a:gd name="T58" fmla="*/ 2147483646 w 948"/>
              <a:gd name="T59" fmla="*/ 2147483646 h 810"/>
              <a:gd name="T60" fmla="*/ 2147483646 w 948"/>
              <a:gd name="T61" fmla="*/ 2147483646 h 810"/>
              <a:gd name="T62" fmla="*/ 2147483646 w 948"/>
              <a:gd name="T63" fmla="*/ 2147483646 h 810"/>
              <a:gd name="T64" fmla="*/ 2147483646 w 948"/>
              <a:gd name="T65" fmla="*/ 2147483646 h 810"/>
              <a:gd name="T66" fmla="*/ 2147483646 w 948"/>
              <a:gd name="T67" fmla="*/ 2147483646 h 810"/>
              <a:gd name="T68" fmla="*/ 2147483646 w 948"/>
              <a:gd name="T69" fmla="*/ 2147483646 h 810"/>
              <a:gd name="T70" fmla="*/ 2147483646 w 948"/>
              <a:gd name="T71" fmla="*/ 2147483646 h 810"/>
              <a:gd name="T72" fmla="*/ 2147483646 w 948"/>
              <a:gd name="T73" fmla="*/ 2147483646 h 810"/>
              <a:gd name="T74" fmla="*/ 2147483646 w 948"/>
              <a:gd name="T75" fmla="*/ 2147483646 h 810"/>
              <a:gd name="T76" fmla="*/ 2147483646 w 948"/>
              <a:gd name="T77" fmla="*/ 2147483646 h 810"/>
              <a:gd name="T78" fmla="*/ 2147483646 w 948"/>
              <a:gd name="T79" fmla="*/ 2147483646 h 810"/>
              <a:gd name="T80" fmla="*/ 2147483646 w 948"/>
              <a:gd name="T81" fmla="*/ 2147483646 h 810"/>
              <a:gd name="T82" fmla="*/ 2147483646 w 948"/>
              <a:gd name="T83" fmla="*/ 2147483646 h 810"/>
              <a:gd name="T84" fmla="*/ 2147483646 w 948"/>
              <a:gd name="T85" fmla="*/ 2147483646 h 810"/>
              <a:gd name="T86" fmla="*/ 2147483646 w 948"/>
              <a:gd name="T87" fmla="*/ 2147483646 h 810"/>
              <a:gd name="T88" fmla="*/ 2147483646 w 948"/>
              <a:gd name="T89" fmla="*/ 2147483646 h 810"/>
              <a:gd name="T90" fmla="*/ 2147483646 w 948"/>
              <a:gd name="T91" fmla="*/ 2147483646 h 810"/>
              <a:gd name="T92" fmla="*/ 2147483646 w 948"/>
              <a:gd name="T93" fmla="*/ 2147483646 h 810"/>
              <a:gd name="T94" fmla="*/ 2147483646 w 948"/>
              <a:gd name="T95" fmla="*/ 2147483646 h 810"/>
              <a:gd name="T96" fmla="*/ 2147483646 w 948"/>
              <a:gd name="T97" fmla="*/ 2147483646 h 810"/>
              <a:gd name="T98" fmla="*/ 2147483646 w 948"/>
              <a:gd name="T99" fmla="*/ 2147483646 h 810"/>
              <a:gd name="T100" fmla="*/ 2147483646 w 948"/>
              <a:gd name="T101" fmla="*/ 2147483646 h 810"/>
              <a:gd name="T102" fmla="*/ 2147483646 w 948"/>
              <a:gd name="T103" fmla="*/ 2147483646 h 810"/>
              <a:gd name="T104" fmla="*/ 2147483646 w 948"/>
              <a:gd name="T105" fmla="*/ 2147483646 h 810"/>
              <a:gd name="T106" fmla="*/ 2147483646 w 948"/>
              <a:gd name="T107" fmla="*/ 2147483646 h 810"/>
              <a:gd name="T108" fmla="*/ 2147483646 w 948"/>
              <a:gd name="T109" fmla="*/ 2147483646 h 810"/>
              <a:gd name="T110" fmla="*/ 2147483646 w 948"/>
              <a:gd name="T111" fmla="*/ 2147483646 h 810"/>
              <a:gd name="T112" fmla="*/ 2147483646 w 948"/>
              <a:gd name="T113" fmla="*/ 2147483646 h 810"/>
              <a:gd name="T114" fmla="*/ 2147483646 w 948"/>
              <a:gd name="T115" fmla="*/ 2147483646 h 810"/>
              <a:gd name="T116" fmla="*/ 2147483646 w 948"/>
              <a:gd name="T117" fmla="*/ 2147483646 h 810"/>
              <a:gd name="T118" fmla="*/ 2147483646 w 948"/>
              <a:gd name="T119" fmla="*/ 2147483646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sp>
        <p:nvSpPr>
          <p:cNvPr id="72" name="Freeform 28"/>
          <p:cNvSpPr>
            <a:spLocks noEditPoints="1"/>
          </p:cNvSpPr>
          <p:nvPr/>
        </p:nvSpPr>
        <p:spPr bwMode="auto">
          <a:xfrm>
            <a:off x="7486061" y="5136337"/>
            <a:ext cx="491281" cy="415309"/>
          </a:xfrm>
          <a:custGeom>
            <a:avLst/>
            <a:gdLst>
              <a:gd name="T0" fmla="*/ 2147483646 w 923"/>
              <a:gd name="T1" fmla="*/ 0 h 771"/>
              <a:gd name="T2" fmla="*/ 2147483646 w 923"/>
              <a:gd name="T3" fmla="*/ 2147483646 h 771"/>
              <a:gd name="T4" fmla="*/ 2147483646 w 923"/>
              <a:gd name="T5" fmla="*/ 2147483646 h 771"/>
              <a:gd name="T6" fmla="*/ 2147483646 w 923"/>
              <a:gd name="T7" fmla="*/ 2147483646 h 771"/>
              <a:gd name="T8" fmla="*/ 2147483646 w 923"/>
              <a:gd name="T9" fmla="*/ 2147483646 h 771"/>
              <a:gd name="T10" fmla="*/ 2147483646 w 923"/>
              <a:gd name="T11" fmla="*/ 2147483646 h 771"/>
              <a:gd name="T12" fmla="*/ 2147483646 w 923"/>
              <a:gd name="T13" fmla="*/ 2147483646 h 771"/>
              <a:gd name="T14" fmla="*/ 2147483646 w 923"/>
              <a:gd name="T15" fmla="*/ 2147483646 h 771"/>
              <a:gd name="T16" fmla="*/ 2147483646 w 923"/>
              <a:gd name="T17" fmla="*/ 2147483646 h 771"/>
              <a:gd name="T18" fmla="*/ 2147483646 w 923"/>
              <a:gd name="T19" fmla="*/ 2147483646 h 771"/>
              <a:gd name="T20" fmla="*/ 2147483646 w 923"/>
              <a:gd name="T21" fmla="*/ 2147483646 h 771"/>
              <a:gd name="T22" fmla="*/ 2147483646 w 923"/>
              <a:gd name="T23" fmla="*/ 2147483646 h 771"/>
              <a:gd name="T24" fmla="*/ 2147483646 w 923"/>
              <a:gd name="T25" fmla="*/ 2147483646 h 771"/>
              <a:gd name="T26" fmla="*/ 2147483646 w 923"/>
              <a:gd name="T27" fmla="*/ 2147483646 h 771"/>
              <a:gd name="T28" fmla="*/ 2147483646 w 923"/>
              <a:gd name="T29" fmla="*/ 2147483646 h 771"/>
              <a:gd name="T30" fmla="*/ 2147483646 w 923"/>
              <a:gd name="T31" fmla="*/ 2147483646 h 771"/>
              <a:gd name="T32" fmla="*/ 2147483646 w 923"/>
              <a:gd name="T33" fmla="*/ 2147483646 h 771"/>
              <a:gd name="T34" fmla="*/ 2147483646 w 923"/>
              <a:gd name="T35" fmla="*/ 2147483646 h 771"/>
              <a:gd name="T36" fmla="*/ 2147483646 w 923"/>
              <a:gd name="T37" fmla="*/ 2147483646 h 771"/>
              <a:gd name="T38" fmla="*/ 2147483646 w 923"/>
              <a:gd name="T39" fmla="*/ 2147483646 h 771"/>
              <a:gd name="T40" fmla="*/ 2147483646 w 923"/>
              <a:gd name="T41" fmla="*/ 2147483646 h 771"/>
              <a:gd name="T42" fmla="*/ 2147483646 w 923"/>
              <a:gd name="T43" fmla="*/ 2147483646 h 771"/>
              <a:gd name="T44" fmla="*/ 2147483646 w 923"/>
              <a:gd name="T45" fmla="*/ 2147483646 h 771"/>
              <a:gd name="T46" fmla="*/ 2147483646 w 923"/>
              <a:gd name="T47" fmla="*/ 2147483646 h 771"/>
              <a:gd name="T48" fmla="*/ 2147483646 w 923"/>
              <a:gd name="T49" fmla="*/ 2147483646 h 771"/>
              <a:gd name="T50" fmla="*/ 2147483646 w 923"/>
              <a:gd name="T51" fmla="*/ 2147483646 h 771"/>
              <a:gd name="T52" fmla="*/ 2147483646 w 923"/>
              <a:gd name="T53" fmla="*/ 2147483646 h 771"/>
              <a:gd name="T54" fmla="*/ 2147483646 w 923"/>
              <a:gd name="T55" fmla="*/ 2147483646 h 771"/>
              <a:gd name="T56" fmla="*/ 2147483646 w 923"/>
              <a:gd name="T57" fmla="*/ 2147483646 h 771"/>
              <a:gd name="T58" fmla="*/ 2147483646 w 923"/>
              <a:gd name="T59" fmla="*/ 2147483646 h 771"/>
              <a:gd name="T60" fmla="*/ 2147483646 w 923"/>
              <a:gd name="T61" fmla="*/ 2147483646 h 771"/>
              <a:gd name="T62" fmla="*/ 2147483646 w 923"/>
              <a:gd name="T63" fmla="*/ 2147483646 h 771"/>
              <a:gd name="T64" fmla="*/ 2147483646 w 923"/>
              <a:gd name="T65" fmla="*/ 2147483646 h 771"/>
              <a:gd name="T66" fmla="*/ 2147483646 w 923"/>
              <a:gd name="T67" fmla="*/ 2147483646 h 771"/>
              <a:gd name="T68" fmla="*/ 2147483646 w 923"/>
              <a:gd name="T69" fmla="*/ 2147483646 h 771"/>
              <a:gd name="T70" fmla="*/ 2147483646 w 923"/>
              <a:gd name="T71" fmla="*/ 2147483646 h 771"/>
              <a:gd name="T72" fmla="*/ 2147483646 w 923"/>
              <a:gd name="T73" fmla="*/ 2147483646 h 771"/>
              <a:gd name="T74" fmla="*/ 2147483646 w 923"/>
              <a:gd name="T75" fmla="*/ 2147483646 h 771"/>
              <a:gd name="T76" fmla="*/ 0 w 923"/>
              <a:gd name="T77" fmla="*/ 2147483646 h 771"/>
              <a:gd name="T78" fmla="*/ 2147483646 w 923"/>
              <a:gd name="T79" fmla="*/ 2147483646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13D51"/>
              </a:solidFill>
              <a:cs typeface="+mn-ea"/>
              <a:sym typeface="+mn-lt"/>
            </a:endParaRPr>
          </a:p>
        </p:txBody>
      </p:sp>
      <p:pic>
        <p:nvPicPr>
          <p:cNvPr id="4" name="图片 3" descr="IMG_2896_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665" y="873125"/>
            <a:ext cx="1334135" cy="132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汉仪铁线黑-6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汉仪铁线黑-6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2715</Words>
  <Application>WPS 表格</Application>
  <PresentationFormat>宽屏</PresentationFormat>
  <Paragraphs>176</Paragraphs>
  <Slides>15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3" baseType="lpstr">
      <vt:lpstr>Arial</vt:lpstr>
      <vt:lpstr>宋体</vt:lpstr>
      <vt:lpstr>Wingdings</vt:lpstr>
      <vt:lpstr>汉仪铁线黑-65简</vt:lpstr>
      <vt:lpstr>汉仪中黑KW</vt:lpstr>
      <vt:lpstr>微软雅黑</vt:lpstr>
      <vt:lpstr>汉仪旗黑</vt:lpstr>
      <vt:lpstr>Calibri</vt:lpstr>
      <vt:lpstr>Imprint MT Shadow</vt:lpstr>
      <vt:lpstr>Rockwell</vt:lpstr>
      <vt:lpstr>Calibri</vt:lpstr>
      <vt:lpstr>宋体</vt:lpstr>
      <vt:lpstr>Arial Unicode MS</vt:lpstr>
      <vt:lpstr>汉仪书宋二KW</vt:lpstr>
      <vt:lpstr>Neris Thin</vt:lpstr>
      <vt:lpstr>思源黑体 CN</vt:lpstr>
      <vt:lpstr>思源黑体 CN Heavy</vt:lpstr>
      <vt:lpstr>苹方-简</vt:lpstr>
      <vt:lpstr>思源黑体 CN</vt:lpstr>
      <vt:lpstr>思源黑体 CN Heavy</vt:lpstr>
      <vt:lpstr>汉仪铁线黑-65简</vt:lpstr>
      <vt:lpstr>Arial Regular</vt:lpstr>
      <vt:lpstr>Arial Bold</vt:lpstr>
      <vt:lpstr>汉仪铸字木头人</vt:lpstr>
      <vt:lpstr>Songti SC Regular</vt:lpstr>
      <vt:lpstr>Times New Roman Regular</vt:lpstr>
      <vt:lpstr>宋体-简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YYY</cp:lastModifiedBy>
  <cp:revision>12</cp:revision>
  <dcterms:created xsi:type="dcterms:W3CDTF">2025-12-17T03:58:29Z</dcterms:created>
  <dcterms:modified xsi:type="dcterms:W3CDTF">2025-12-17T03:58:29Z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71C63B1E80B9DB0722864169E1897011_41</vt:lpwstr>
  </property>
  <property fmtid="{D5CDD505-2E9C-101B-9397-08002B2CF9AE}" pid="3" name="KSOProductBuildVer">
    <vt:lpwstr>2052-6.15.1.8935</vt:lpwstr>
  </property>
  <property fmtid="{D5CDD505-2E9C-101B-9397-08002B2CF9AE}" pid="4" name="KSOTemplateUUID">
    <vt:lpwstr>v1.0_mb_ZsVlP7hu088ys9/6hqkHkA==</vt:lpwstr>
  </property>
</Properties>
</file>